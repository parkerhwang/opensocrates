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86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24D"/>
                </a:solidFill>
              </a:defRPr>
            </a:pPr>
            <a:r>
              <a:t>Stage Netherlands + Spain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90-day validation before site commitment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63744"/>
                </a:solidFill>
              </a:defRPr>
            </a:pPr>
            <a:r>
              <a:t>• EUR268k base annual increment; EUR209k defined stress</a:t>
            </a:r>
          </a:p>
          <a:p>
            <a:pPr>
              <a:spcAft>
                <a:spcPts val="1500"/>
              </a:spcAft>
              <a:defRPr sz="2100">
                <a:solidFill>
                  <a:srgbClr val="263744"/>
                </a:solidFill>
              </a:defRPr>
            </a:pPr>
            <a:r>
              <a:t>• EUR270k capex; six FTE</a:t>
            </a:r>
          </a:p>
          <a:p>
            <a:pPr>
              <a:spcAft>
                <a:spcPts val="1500"/>
              </a:spcAft>
              <a:defRPr sz="2100">
                <a:solidFill>
                  <a:srgbClr val="263744"/>
                </a:solidFill>
              </a:defRPr>
            </a:pPr>
            <a:r>
              <a:t>• EUR16k less base than CZ + ES; EUR197k more under stress</a:t>
            </a:r>
          </a:p>
          <a:p>
            <a:pPr>
              <a:spcAft>
                <a:spcPts val="1500"/>
              </a:spcAft>
              <a:defRPr sz="2100">
                <a:solidFill>
                  <a:srgbClr val="263744"/>
                </a:solidFill>
              </a:defRPr>
            </a:pPr>
            <a:r>
              <a:t>• Release capex only after verified downside remains positive and payback ≤3y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86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24D"/>
                </a:solidFill>
              </a:defRPr>
            </a:pPr>
            <a:r>
              <a:t>2025 synthetic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1,254 eligible orders • 80,436 units</a:t>
            </a:r>
          </a:p>
        </p:txBody>
      </p:sp>
      <p:pic>
        <p:nvPicPr>
          <p:cNvPr id="5" name="Picture 4" descr="country-con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7680960" cy="33604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263744"/>
                </a:solidFill>
              </a:defRPr>
            </a:pPr>
            <a:r>
              <a:t>• Spain EUR418k</a:t>
            </a:r>
          </a:p>
          <a:p>
            <a:pPr>
              <a:spcAft>
                <a:spcPts val="1500"/>
              </a:spcAft>
              <a:defRPr sz="1900">
                <a:solidFill>
                  <a:srgbClr val="263744"/>
                </a:solidFill>
              </a:defRPr>
            </a:pPr>
            <a:r>
              <a:t>• Czechia EUR394k</a:t>
            </a:r>
          </a:p>
          <a:p>
            <a:pPr>
              <a:spcAft>
                <a:spcPts val="1500"/>
              </a:spcAft>
              <a:defRPr sz="1900">
                <a:solidFill>
                  <a:srgbClr val="263744"/>
                </a:solidFill>
              </a:defRPr>
            </a:pPr>
            <a:r>
              <a:t>• Poland EUR353k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86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24D"/>
                </a:solidFill>
              </a:defRPr>
            </a:pPr>
            <a:r>
              <a:t>Downside changes the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Client-defined scenarios; no probability assigned</a:t>
            </a:r>
          </a:p>
        </p:txBody>
      </p:sp>
      <p:pic>
        <p:nvPicPr>
          <p:cNvPr id="5" name="Picture 4" descr="pair-scen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7315200" cy="3413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63744"/>
                </a:solidFill>
              </a:defRPr>
            </a:pPr>
            <a:r>
              <a:t>• NL+ES: EUR268k base / EUR209k stress</a:t>
            </a:r>
          </a:p>
          <a:p>
            <a:pPr>
              <a:spcAft>
                <a:spcPts val="1500"/>
              </a:spcAft>
              <a:defRPr sz="1800">
                <a:solidFill>
                  <a:srgbClr val="263744"/>
                </a:solidFill>
              </a:defRPr>
            </a:pPr>
            <a:r>
              <a:t>• CZ+ES: EUR284k base / EUR12k stress</a:t>
            </a:r>
          </a:p>
          <a:p>
            <a:pPr>
              <a:spcAft>
                <a:spcPts val="1500"/>
              </a:spcAft>
              <a:defRPr sz="1800">
                <a:solidFill>
                  <a:srgbClr val="263744"/>
                </a:solidFill>
              </a:defRPr>
            </a:pPr>
            <a:r>
              <a:t>• CZ stress includes 10% CZK shock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86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24D"/>
                </a:solidFill>
              </a:defRPr>
            </a:pPr>
            <a:r>
              <a:t>Trade-off and switch 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Hard limits: EUR450k • seven FTE • two hubs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263744"/>
                </a:solidFill>
              </a:defRPr>
            </a:pPr>
            <a:r>
              <a:t>• NL + ES costs EUR45k more capex and one more FTE</a:t>
            </a:r>
          </a:p>
          <a:p>
            <a:pPr>
              <a:spcAft>
                <a:spcPts val="1500"/>
              </a:spcAft>
              <a:defRPr sz="2000">
                <a:solidFill>
                  <a:srgbClr val="263744"/>
                </a:solidFill>
              </a:defRPr>
            </a:pPr>
            <a:r>
              <a:t>• CZ + ES would lead stress if the modeled CZK shock were below about 0.55%</a:t>
            </a:r>
          </a:p>
          <a:p>
            <a:pPr>
              <a:spcAft>
                <a:spcPts val="1500"/>
              </a:spcAft>
              <a:defRPr sz="2000">
                <a:solidFill>
                  <a:srgbClr val="263744"/>
                </a:solidFill>
              </a:defRPr>
            </a:pPr>
            <a:r>
              <a:t>• If demand or savings fail validation: defer</a:t>
            </a:r>
          </a:p>
          <a:p>
            <a:pPr>
              <a:spcAft>
                <a:spcPts val="1500"/>
              </a:spcAft>
              <a:defRPr sz="2000">
                <a:solidFill>
                  <a:srgbClr val="263744"/>
                </a:solidFill>
              </a:defRPr>
            </a:pPr>
            <a:r>
              <a:t>• Stress is scenario arithmetic, not forecast probability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86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24D"/>
                </a:solidFill>
              </a:defRPr>
            </a:pPr>
            <a:r>
              <a:t>90-day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Owners are roles; assign people at kickoff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828800" cy="685800"/>
          </a:xfrm>
          <a:prstGeom prst="rect">
            <a:avLst/>
          </a:prstGeom>
          <a:solidFill>
            <a:srgbClr val="286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Days 0–15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3716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COO + Finance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1371600"/>
            <a:ext cx="6217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/>
            </a:pPr>
            <a:r>
              <a:t>Reconcile baseline; define KPIs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14600"/>
            <a:ext cx="1828800" cy="685800"/>
          </a:xfrm>
          <a:prstGeom prst="rect">
            <a:avLst/>
          </a:prstGeom>
          <a:solidFill>
            <a:srgbClr val="286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Days 16–45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5146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Commercial + Ops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2514600"/>
            <a:ext cx="6217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/>
            </a:pPr>
            <a:r>
              <a:t>Access customer/carrier data; validate demand, service and savings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657600"/>
            <a:ext cx="1828800" cy="685800"/>
          </a:xfrm>
          <a:prstGeom prst="rect">
            <a:avLst/>
          </a:prstGeom>
          <a:solidFill>
            <a:srgbClr val="286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Days 46–70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6576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Finance + HR + Legal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657600"/>
            <a:ext cx="6217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/>
            </a:pPr>
            <a:r>
              <a:t>After Gate 1: full costs/local diligence; downside &gt;0; payback ≤3y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800600"/>
            <a:ext cx="1828800" cy="685800"/>
          </a:xfrm>
          <a:prstGeom prst="rect">
            <a:avLst/>
          </a:prstGeom>
          <a:solidFill>
            <a:srgbClr val="286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Days 71–90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48006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COO + Board sponsor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4800600"/>
            <a:ext cx="6217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/>
            </a:pPr>
            <a:r>
              <a:t>After Gate 2, commit only if evidence passes; otherwise defer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86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24D"/>
                </a:solidFill>
              </a:defRPr>
            </a:pPr>
            <a:r>
              <a:t>KPI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Weekly by country/SKU vs measured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263744"/>
                </a:solidFill>
              </a:defRPr>
            </a:pPr>
            <a:r>
              <a:t>• Delivery median/P90 down ≥20% by day 90</a:t>
            </a:r>
          </a:p>
          <a:p>
            <a:pPr>
              <a:spcAft>
                <a:spcPts val="1500"/>
              </a:spcAft>
              <a:defRPr sz="1900">
                <a:solidFill>
                  <a:srgbClr val="263744"/>
                </a:solidFill>
              </a:defRPr>
            </a:pPr>
            <a:r>
              <a:t>• On-time-in-full +5pp; returns no more than +0.5pp</a:t>
            </a:r>
          </a:p>
          <a:p>
            <a:pPr>
              <a:spcAft>
                <a:spcPts val="1500"/>
              </a:spcAft>
              <a:defRPr sz="1900">
                <a:solidFill>
                  <a:srgbClr val="263744"/>
                </a:solidFill>
              </a:defRPr>
            </a:pPr>
            <a:r>
              <a:t>• Realized savings ≥EUR3.10/unit; downside contribution &gt;0</a:t>
            </a:r>
          </a:p>
          <a:p>
            <a:pPr>
              <a:spcAft>
                <a:spcPts val="1500"/>
              </a:spcAft>
              <a:defRPr sz="1900">
                <a:solidFill>
                  <a:srgbClr val="263744"/>
                </a:solidFill>
              </a:defRPr>
            </a:pPr>
            <a:r>
              <a:t>• Zero unresolved orphan/revision exceptions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86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24D"/>
                </a:solidFill>
              </a:defRPr>
            </a:pPr>
            <a:r>
              <a:t>Evidence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263744"/>
                </a:solidFill>
              </a:defRPr>
            </a:pPr>
            <a:r>
              <a:t>• Client orders, returns, costs and option assumptions are synthetic</a:t>
            </a:r>
          </a:p>
          <a:p>
            <a:pPr>
              <a:spcAft>
                <a:spcPts val="1500"/>
              </a:spcAft>
              <a:defRPr sz="1900">
                <a:solidFill>
                  <a:srgbClr val="263744"/>
                </a:solidFill>
              </a:defRPr>
            </a:pPr>
            <a:r>
              <a:t>• Archived official ECB 2025 rates and WB 2022–24 observations</a:t>
            </a:r>
          </a:p>
          <a:p>
            <a:pPr>
              <a:spcAft>
                <a:spcPts val="1500"/>
              </a:spcAft>
              <a:defRPr sz="1900">
                <a:solidFill>
                  <a:srgbClr val="263744"/>
                </a:solidFill>
              </a:defRPr>
            </a:pPr>
            <a:r>
              <a:t>• Macro context is not proof of parts demand</a:t>
            </a:r>
          </a:p>
          <a:p>
            <a:pPr>
              <a:spcAft>
                <a:spcPts val="1500"/>
              </a:spcAft>
              <a:defRPr sz="1900">
                <a:solidFill>
                  <a:srgbClr val="263744"/>
                </a:solidFill>
              </a:defRPr>
            </a:pPr>
            <a:r>
              <a:t>• No causal effect, discounting, taxes or ramp modeled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