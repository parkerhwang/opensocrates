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BOARD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Fund NLD + ESP conditionally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58368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ptos"/>
              </a:rPr>
              <a:t>A risk-adjusted two-hub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640080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43746"/>
                </a:solidFill>
                <a:latin typeface="Aptos"/>
              </a:rPr>
              <a:t>Approve the envelope and a 90-day validation sprint; release the second-hub spend only when actual lane, service and contribution KPIs clear the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1874519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417320"/>
            <a:ext cx="1655063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YEAR-ZERO 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618488"/>
            <a:ext cx="1655063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€270k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993391"/>
            <a:ext cx="1655063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€180k headroom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325880"/>
            <a:ext cx="1874519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1417320"/>
            <a:ext cx="1655063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STAFFING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8" y="1618488"/>
            <a:ext cx="1655063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6 FTE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6648" y="1993391"/>
            <a:ext cx="1655063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1 FTE headroom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423160"/>
            <a:ext cx="1874519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2514600"/>
            <a:ext cx="1655063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BASE INCREMENT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715768"/>
            <a:ext cx="1655063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€269.8k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090672"/>
            <a:ext cx="1655063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1.00-year payback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423160"/>
            <a:ext cx="1874519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514600"/>
            <a:ext cx="1655063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DEFINED STRESS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15768"/>
            <a:ext cx="1655063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2D8A64"/>
                </a:solidFill>
                <a:latin typeface="Aptos"/>
              </a:rPr>
              <a:t>€210.5k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3090672"/>
            <a:ext cx="1655063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1.28-year payback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46120"/>
            <a:ext cx="10881360" cy="1234440"/>
          </a:xfrm>
          <a:prstGeom prst="rect">
            <a:avLst/>
          </a:prstGeom>
          <a:solidFill>
            <a:srgbClr val="E7F4F4"/>
          </a:solidFill>
          <a:ln w="10160">
            <a:solidFill>
              <a:srgbClr val="008C95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0686E"/>
                </a:solidFill>
                <a:latin typeface="Aptos"/>
              </a:defRPr>
            </a:pPr>
            <a:r>
              <a:t>Decision logic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Choose the feasible pair that remains positive in low/base/high/stress and ranks first on defined-stress incremental contribution. This is a risk preference under synthetic policy assumptions—not a causal demand forecast.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10607040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7324D"/>
                </a:solidFill>
                <a:latin typeface="Aptos"/>
              </a:rPr>
              <a:t>Strongest base-only alternative: CZE + ESP — €286.2k base increment / €120.2k stress increment. NLD + ESP gives up €16.4k in base but adds €90.3k in stress.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What the board should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240280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2020824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2025 NET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18488"/>
            <a:ext cx="202082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€4.38m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93391"/>
            <a:ext cx="2020824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6 markets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25880"/>
            <a:ext cx="2240280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1417320"/>
            <a:ext cx="2020824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2025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618488"/>
            <a:ext cx="202082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€2.03m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1993391"/>
            <a:ext cx="2020824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46.2%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325880"/>
            <a:ext cx="2240280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417320"/>
            <a:ext cx="2020824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ELIGIBLE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618488"/>
            <a:ext cx="202082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1,254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1993391"/>
            <a:ext cx="2020824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12 months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325880"/>
            <a:ext cx="2240280" cy="914400"/>
          </a:xfrm>
          <a:prstGeom prst="roundRect">
            <a:avLst/>
          </a:prstGeom>
          <a:solidFill>
            <a:srgbClr val="F4F7F8"/>
          </a:solidFill>
          <a:ln>
            <a:solidFill>
              <a:srgbClr val="DCE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417320"/>
            <a:ext cx="2020824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607382"/>
                </a:solidFill>
                <a:latin typeface="Aptos"/>
              </a:rPr>
              <a:t>RETURNS CUTOFF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1618488"/>
            <a:ext cx="2020824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200" b="1">
                <a:solidFill>
                  <a:srgbClr val="00686E"/>
                </a:solidFill>
                <a:latin typeface="Aptos"/>
              </a:rPr>
              <a:t>31 Jan 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1993391"/>
            <a:ext cx="2020824" cy="1554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07382"/>
                </a:solidFill>
                <a:latin typeface="Aptos"/>
              </a:rPr>
              <a:t>inclusive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5577840" cy="246888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686E"/>
                </a:solidFill>
                <a:latin typeface="Aptos"/>
              </a:defRPr>
            </a:pPr>
            <a:r>
              <a:t>Diagnosis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• Spain is the largest synthetic contribution base; Czechia is the strongest base-case pairing partner.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• Netherlands + Spain is the most resilient feasible pair under the client’s defined stress because it avoids the extra PLN/CZK shock.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• The model is decision support, not proof: local lane demand, service improvement and fixed-cost quotes are the gating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88920"/>
            <a:ext cx="49834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Aptos"/>
              </a:rPr>
              <a:t>Incremental contribution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5198364"/>
            <a:ext cx="3566160" cy="18288"/>
          </a:xfrm>
          <a:prstGeom prst="rect">
            <a:avLst/>
          </a:prstGeom>
          <a:solidFill>
            <a:srgbClr val="B8C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2" y="5257799"/>
            <a:ext cx="112014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NLD+ESP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1281" y="3386360"/>
            <a:ext cx="182880" cy="1825719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2450" y="3787624"/>
            <a:ext cx="182880" cy="1424455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8492" y="5257799"/>
            <a:ext cx="112014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CZE+ESP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2822" y="3275713"/>
            <a:ext cx="182880" cy="1936366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63990" y="4398421"/>
            <a:ext cx="182880" cy="813658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5257799"/>
            <a:ext cx="112014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POL+ESP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54361" y="3334474"/>
            <a:ext cx="182880" cy="1877605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55530" y="4397264"/>
            <a:ext cx="182880" cy="814815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91572" y="5257799"/>
            <a:ext cx="112014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NLD+CZE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45902" y="3537072"/>
            <a:ext cx="182880" cy="1675007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47070" y="4618375"/>
            <a:ext cx="182880" cy="593704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2834639"/>
            <a:ext cx="91440" cy="914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5832" y="2807208"/>
            <a:ext cx="685800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50" b="0">
                <a:solidFill>
                  <a:srgbClr val="607382"/>
                </a:solidFill>
                <a:latin typeface="Aptos"/>
              </a:rPr>
              <a:t>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44200" y="2834639"/>
            <a:ext cx="91440" cy="91440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63072" y="2807208"/>
            <a:ext cx="685800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50" b="0">
                <a:solidFill>
                  <a:srgbClr val="607382"/>
                </a:solidFill>
                <a:latin typeface="Aptos"/>
              </a:rPr>
              <a:t>Stress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BASE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2025 base performance is concentrated in ESP / CZE / POL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22960"/>
                <a:gridCol w="1143000"/>
                <a:gridCol w="1234440"/>
                <a:gridCol w="731520"/>
                <a:gridCol w="8229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 sales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Contribution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Margin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Returned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DEU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12,153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€625,792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€262,366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41.9%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FRA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11,880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€632,231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€276,271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43.7%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144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NLD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12,576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€697,733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€315,644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45.2%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144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POL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13,163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€761,890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€356,494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46.8%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180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CZE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13,733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€815,307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€397,335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48.7%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288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ESP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13,931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€850,839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€421,900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49.6%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252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1234440"/>
            <a:ext cx="489204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Aptos"/>
              </a:rPr>
              <a:t>Contribution by 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781044"/>
            <a:ext cx="3474720" cy="18288"/>
          </a:xfrm>
          <a:prstGeom prst="rect">
            <a:avLst/>
          </a:prstGeom>
          <a:solidFill>
            <a:srgbClr val="B8C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DEU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44256" y="2531249"/>
            <a:ext cx="182880" cy="126351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467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FRA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23376" y="2464282"/>
            <a:ext cx="182880" cy="1330477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379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2495" y="2274667"/>
            <a:ext cx="182880" cy="152009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POL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81616" y="2077942"/>
            <a:ext cx="182880" cy="1716817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203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CZE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6" y="1881257"/>
            <a:ext cx="182880" cy="1913502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1152" y="3840480"/>
            <a:ext cx="80772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ESP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39856" y="1762954"/>
            <a:ext cx="182880" cy="2031805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04119" y="1280160"/>
            <a:ext cx="91440" cy="914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1252728"/>
            <a:ext cx="685800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50" b="0">
                <a:solidFill>
                  <a:srgbClr val="607382"/>
                </a:solidFill>
                <a:latin typeface="Aptos"/>
              </a:rPr>
              <a:t>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343400"/>
            <a:ext cx="4892040" cy="1005840"/>
          </a:xfrm>
          <a:prstGeom prst="rect">
            <a:avLst/>
          </a:prstGeom>
          <a:solidFill>
            <a:srgbClr val="FFF1E8"/>
          </a:solidFill>
          <a:ln w="10160">
            <a:solidFill>
              <a:srgbClr val="E27D42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00686E"/>
                </a:solidFill>
                <a:latin typeface="Aptos"/>
              </a:defRPr>
            </a:pPr>
            <a:r>
              <a:t>Read-through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43746"/>
                </a:solidFill>
                <a:latin typeface="Aptos"/>
              </a:defRPr>
            </a:pPr>
            <a:r>
              <a:t>This ranks the synthetic 2025 flow; population/GDP and historical sales do not prove hub demand. Validate actual lane-level SLA pain and density.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The base is controlled for revisions, returns and historical FX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49377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Raw order rows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1,328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Exact order repeats removed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Order revision replacements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Eligible 2025 orders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1,254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Included returns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Quarantined returns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 orphan; 1 after cutoff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Monthly reconciliation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 issues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Valid zero-price shipments kept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234440"/>
            <a:ext cx="5303520" cy="356616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686E"/>
                </a:solidFill>
                <a:latin typeface="Aptos"/>
              </a:defRPr>
            </a:pPr>
            <a:r>
              <a:t>Accounting choices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One order/SKU row; highest numeric revision retained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Returns linked only to eligible orders; no orphan guessing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Original sale-month ECB mean used for sale and refund conversion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Half-up cents at order level before sums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Contribution is not cash; settlement / working capital are outside source 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166360"/>
            <a:ext cx="521208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07382"/>
                </a:solidFill>
                <a:latin typeface="Aptos"/>
              </a:rPr>
              <a:t>Source status: synthetic client inputs + archived official public snapshots; no live account or interviews.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CONTEXT &amp; FX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Market context is supportive but not demand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645920"/>
                <a:gridCol w="15544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Pop. 22→24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GDP pc 2024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GDP pc change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DEU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$56,103.73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11.1%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FRA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0.5%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$46,103.08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12.5%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NLD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$67,465.32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14.1%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POL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-0.7%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$25,103.57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32.9%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CZE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$31,827.76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12.5%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ESP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$35,326.77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16.5%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234440"/>
            <a:ext cx="493776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Aptos"/>
              </a:rPr>
              <a:t>ECB monthly reference means — local units per EUR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600200"/>
          <a:ext cx="21945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"/>
                <a:gridCol w="6400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PLN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CZK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25.163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2025-02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4.172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25.077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4.182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25.001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4.265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25.039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4.254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24.923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2025-06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4.266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24.804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4.254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24.625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2025-08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4.261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24.517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2025-09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24.347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2025-10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4.249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24.315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4.238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24.234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2025-12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4.224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24.259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098280" y="1600200"/>
            <a:ext cx="2468880" cy="2011680"/>
          </a:xfrm>
          <a:prstGeom prst="rect">
            <a:avLst/>
          </a:prstGeom>
          <a:solidFill>
            <a:srgbClr val="E7F4F4"/>
          </a:solidFill>
          <a:ln w="10160">
            <a:solidFill>
              <a:srgbClr val="008C95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0686E"/>
                </a:solidFill>
                <a:latin typeface="Aptos"/>
              </a:defRPr>
            </a:pPr>
            <a:r>
              <a:t>Use in model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43746"/>
                </a:solidFill>
                <a:latin typeface="Aptos"/>
              </a:defRPr>
            </a:pPr>
            <a:r>
              <a:t>PLN and CZK are quote units per EUR. Use the sale-month mean for both sales and refunds; do not invert or use today’s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931920"/>
            <a:ext cx="2468880" cy="11887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07382"/>
                </a:solidFill>
                <a:latin typeface="Aptos"/>
              </a:rPr>
              <a:t>World Bank archive vintage
2026-07-13
Context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SCENARIO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NLD + ESP is the stress leader; CZE + ESP is the base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6294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17324D"/>
                </a:solidFill>
                <a:latin typeface="Aptos"/>
              </a:rPr>
              <a:t>Annual incremental contribution after recurring fixed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5289804"/>
            <a:ext cx="5212080" cy="18288"/>
          </a:xfrm>
          <a:prstGeom prst="rect">
            <a:avLst/>
          </a:prstGeom>
          <a:solidFill>
            <a:srgbClr val="B8C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1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NLD+ESP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7691" y="3099494"/>
            <a:ext cx="182880" cy="2204025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8860" y="3583905"/>
            <a:ext cx="182880" cy="1719614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CZE+ESP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6372" y="2965925"/>
            <a:ext cx="182880" cy="233759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77540" y="4321262"/>
            <a:ext cx="182880" cy="982257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POL+ESP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5052" y="3036860"/>
            <a:ext cx="182880" cy="2266659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46220" y="4319867"/>
            <a:ext cx="182880" cy="983652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NLD+CZE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13732" y="3281438"/>
            <a:ext cx="182880" cy="2022081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14900" y="4586799"/>
            <a:ext cx="182880" cy="716720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9512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NLD+POL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2412" y="3357688"/>
            <a:ext cx="182880" cy="1945831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83579" y="4590719"/>
            <a:ext cx="182880" cy="712800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349240"/>
            <a:ext cx="109728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800" b="0">
                <a:solidFill>
                  <a:srgbClr val="607382"/>
                </a:solidFill>
                <a:latin typeface="Aptos"/>
              </a:rPr>
              <a:t>ESP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1092" y="4464466"/>
            <a:ext cx="182880" cy="839053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52259" y="4731660"/>
            <a:ext cx="182880" cy="571859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1280160"/>
            <a:ext cx="91440" cy="9144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9592" y="1252728"/>
            <a:ext cx="685800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50" b="0">
                <a:solidFill>
                  <a:srgbClr val="607382"/>
                </a:solidFill>
                <a:latin typeface="Aptos"/>
              </a:rPr>
              <a:t>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280160"/>
            <a:ext cx="91440" cy="91440"/>
          </a:xfrm>
          <a:prstGeom prst="rect">
            <a:avLst/>
          </a:prstGeom>
          <a:solidFill>
            <a:srgbClr val="E27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1252728"/>
            <a:ext cx="685800" cy="14630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50" b="0">
                <a:solidFill>
                  <a:srgbClr val="607382"/>
                </a:solidFill>
                <a:latin typeface="Aptos"/>
              </a:rPr>
              <a:t>Stress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543800" y="1234440"/>
          <a:ext cx="4023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548640"/>
                <a:gridCol w="731520"/>
                <a:gridCol w="73152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Option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Capex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FTE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PB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Stress PB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NLD+ESP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€270,000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CZE+ESP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€225,000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0.79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1.87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POL+ESP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€240,000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NLD+CZE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€235,000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2.68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NLD+POL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€250,000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2.86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ESP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€130,000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1.27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1.86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Recommendation: trade a small base premium for a larger stress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3474720"/>
          </a:xfrm>
          <a:prstGeom prst="rect">
            <a:avLst/>
          </a:prstGeom>
          <a:solidFill>
            <a:srgbClr val="E7F4F4"/>
          </a:solidFill>
          <a:ln w="10160">
            <a:solidFill>
              <a:srgbClr val="008C95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0686E"/>
                </a:solidFill>
                <a:latin typeface="Aptos"/>
              </a:defRPr>
            </a:pPr>
            <a:r>
              <a:t>NLD + ESP</a:t>
            </a:r>
          </a:p>
          <a:p>
            <a:pPr algn="l">
              <a:spcAft>
                <a:spcPts val="500"/>
              </a:spcAft>
              <a:defRPr sz="1400" b="1">
                <a:solidFill>
                  <a:srgbClr val="17324D"/>
                </a:solidFill>
                <a:latin typeface="Aptos"/>
              </a:defRPr>
            </a:pPr>
            <a:r>
              <a:t>€270k capex | 6 FTE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Positive in low / base / high / stress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Highest defined-stress feasible pair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Avoids the additional PLN/CZK shock in policy stress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Release second hub only after KPI gate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23444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194560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NLD+ESP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CZE+ESP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Base increment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€269,815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€286,167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Stress increment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€210,514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€120,247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Base payback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1.00 yrs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0.79 yrs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Stress payback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1.28 yrs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1.87 yrs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Policy FX shock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CZK: 10% of 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Headroom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€180k / 1 FTE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€225k / 2 FTE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0" y="4983480"/>
            <a:ext cx="676656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E27D42"/>
                </a:solidFill>
                <a:latin typeface="Aptos"/>
              </a:rPr>
              <a:t>What changes the decision: local uplift, actual SLA gap, site/labor quotes, or failure of KPI gates—not population/GDP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90 days: validate one hub, then release the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429000" cy="256032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686E"/>
                </a:solidFill>
                <a:latin typeface="Aptos"/>
              </a:defRPr>
            </a:pPr>
            <a:r>
              <a:t>DAYS 0–30</a:t>
            </a:r>
          </a:p>
          <a:p>
            <a:pPr algn="l">
              <a:spcAft>
                <a:spcPts val="500"/>
              </a:spcAft>
              <a:defRPr sz="2100" b="1">
                <a:solidFill>
                  <a:srgbClr val="17324D"/>
                </a:solidFill>
                <a:latin typeface="Aptos"/>
              </a:defRPr>
            </a:pPr>
            <a:r>
              <a:t>Frame</a:t>
            </a:r>
          </a:p>
          <a:p>
            <a:pPr algn="l">
              <a:spcAft>
                <a:spcPts val="500"/>
              </a:spcAft>
              <a:defRPr sz="1100" b="1">
                <a:solidFill>
                  <a:srgbClr val="607382"/>
                </a:solidFill>
                <a:latin typeface="Aptos"/>
              </a:defRPr>
            </a:pPr>
            <a:r>
              <a:t>COO / Finance / Data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Aptos"/>
              </a:defRPr>
            </a:pPr>
            <a:r>
              <a:t>Baseline lanes, SLA, return reasons, sites, carrier and labor quotes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87952" y="2331720"/>
            <a:ext cx="347472" cy="320040"/>
          </a:xfrm>
          <a:prstGeom prst="rightArrow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3429000" cy="256032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686E"/>
                </a:solidFill>
                <a:latin typeface="Aptos"/>
              </a:defRPr>
            </a:pPr>
            <a:r>
              <a:t>DAYS 31–60</a:t>
            </a:r>
          </a:p>
          <a:p>
            <a:pPr algn="l">
              <a:spcAft>
                <a:spcPts val="500"/>
              </a:spcAft>
              <a:defRPr sz="2100" b="1">
                <a:solidFill>
                  <a:srgbClr val="17324D"/>
                </a:solidFill>
                <a:latin typeface="Aptos"/>
              </a:defRPr>
            </a:pPr>
            <a:r>
              <a:t>Design</a:t>
            </a:r>
          </a:p>
          <a:p>
            <a:pPr algn="l">
              <a:spcAft>
                <a:spcPts val="500"/>
              </a:spcAft>
              <a:defRPr sz="1100" b="1">
                <a:solidFill>
                  <a:srgbClr val="607382"/>
                </a:solidFill>
                <a:latin typeface="Aptos"/>
              </a:defRPr>
            </a:pPr>
            <a:r>
              <a:t>Ops / HR / IT / Legal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Aptos"/>
              </a:defRPr>
            </a:pPr>
            <a:r>
              <a:t>WMS/RMA, inventory pool, staffing, compliance, signed quote pack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82712" y="2331720"/>
            <a:ext cx="347472" cy="320040"/>
          </a:xfrm>
          <a:prstGeom prst="rightArrow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417320"/>
            <a:ext cx="3429000" cy="256032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00686E"/>
                </a:solidFill>
                <a:latin typeface="Aptos"/>
              </a:defRPr>
            </a:pPr>
            <a:r>
              <a:t>DAYS 61–90</a:t>
            </a:r>
          </a:p>
          <a:p>
            <a:pPr algn="l">
              <a:spcAft>
                <a:spcPts val="500"/>
              </a:spcAft>
              <a:defRPr sz="2100" b="1">
                <a:solidFill>
                  <a:srgbClr val="17324D"/>
                </a:solidFill>
                <a:latin typeface="Aptos"/>
              </a:defRPr>
            </a:pPr>
            <a:r>
              <a:t>Pilot</a:t>
            </a:r>
          </a:p>
          <a:p>
            <a:pPr algn="l">
              <a:spcAft>
                <a:spcPts val="500"/>
              </a:spcAft>
              <a:defRPr sz="1100" b="1">
                <a:solidFill>
                  <a:srgbClr val="607382"/>
                </a:solidFill>
                <a:latin typeface="Aptos"/>
              </a:defRPr>
            </a:pPr>
            <a:r>
              <a:t>Hub GM / Quality / Commercial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43746"/>
                </a:solidFill>
                <a:latin typeface="Aptos"/>
              </a:defRPr>
            </a:pPr>
            <a:r>
              <a:t>Soft launch first validated lane; weekly control tower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10835640" cy="1143000"/>
          </a:xfrm>
          <a:prstGeom prst="rect">
            <a:avLst/>
          </a:prstGeom>
          <a:solidFill>
            <a:srgbClr val="FFF1E8"/>
          </a:solidFill>
          <a:ln w="10160">
            <a:solidFill>
              <a:srgbClr val="E27D42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686E"/>
                </a:solidFill>
                <a:latin typeface="Aptos"/>
              </a:defRPr>
            </a:pPr>
            <a:r>
              <a:t>Gate 3 / second-hub release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43746"/>
                </a:solidFill>
                <a:latin typeface="Aptos"/>
              </a:defRPr>
            </a:pPr>
            <a:r>
              <a:t>Release only if 8-week run-rate reaches ≥80% of base increment for pilot scope, OTIF ≥95%, stockout ≤3%, return rate ≤ baseline +1pp, and capex remains within envelope.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KPI control tower converts the model into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5760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182880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KPI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Owner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OTIF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≥95%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Quality / Hub GM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Median order-to-ship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≤24h or −20%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Ops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Actual contribution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≥80% base run-rate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Return rate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≤ baseline +1pp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Quality / Commercial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Stockout / fill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≤3% / ≥95%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Inventory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Capex / staffing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≤€270k / ≤6 FTE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Finance / HR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234440"/>
            <a:ext cx="4754880" cy="3474720"/>
          </a:xfrm>
          <a:prstGeom prst="rect">
            <a:avLst/>
          </a:prstGeom>
          <a:solidFill>
            <a:srgbClr val="F4F7F8"/>
          </a:solidFill>
          <a:ln w="10160">
            <a:solidFill>
              <a:srgbClr val="DCE6E9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0686E"/>
                </a:solidFill>
                <a:latin typeface="Aptos"/>
              </a:defRPr>
            </a:pPr>
            <a:r>
              <a:t>Risk controls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Demand: lane-level validation and staged capex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FX / returns: monthly stress refresh and sale-month rates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Labor / fixed cost: signed quotes and staged hiring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243746"/>
                </a:solidFill>
                <a:latin typeface="Aptos"/>
              </a:defRPr>
            </a:pPr>
            <a:r>
              <a:t>• Data: preserve revision / RMA lineage and reconcile 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5074920"/>
            <a:ext cx="4663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BD4B4B"/>
                </a:solidFill>
                <a:latin typeface="Aptos"/>
              </a:rPr>
              <a:t>If the gate fails, defer rather than treat the scenario as a promise.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645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800" b="1">
                <a:solidFill>
                  <a:srgbClr val="00686E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Aptos"/>
              </a:rPr>
              <a:t>Decision ask and evidence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700" b="0">
                <a:solidFill>
                  <a:srgbClr val="607382"/>
                </a:solidFill>
                <a:latin typeface="Aptos"/>
              </a:rPr>
              <a:t>Meridian Parts | Synthetic client analysis | Frozen source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/>
            <a:r>
              <a:rPr sz="700" b="0">
                <a:solidFill>
                  <a:srgbClr val="607382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03520" cy="3337560"/>
          </a:xfrm>
          <a:prstGeom prst="rect">
            <a:avLst/>
          </a:prstGeom>
          <a:solidFill>
            <a:srgbClr val="E7F4F4"/>
          </a:solidFill>
          <a:ln w="10160">
            <a:solidFill>
              <a:srgbClr val="008C95"/>
            </a:solidFill>
          </a:ln>
        </p:spPr>
        <p:txBody>
          <a:bodyPr wrap="none" lIns="109728" rIns="109728" tIns="109728" bIns="10972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00686E"/>
                </a:solidFill>
                <a:latin typeface="Aptos"/>
              </a:defRPr>
            </a:pPr>
            <a:r>
              <a:t>Approve today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1. NLD+ESP option envelope: €270k capex / six FTE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2. 90-day validation sprint and KPI control tower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3. Gate-based release of second-hub spend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43746"/>
                </a:solidFill>
                <a:latin typeface="Aptos"/>
              </a:defRPr>
            </a:pPr>
            <a:r>
              <a:t>4. Re-open if actual demand, SLA, site or labor evidence contradicts the low case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234440"/>
          <a:ext cx="47548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65760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</a:t>
                      </a:r>
                    </a:p>
                  </a:txBody>
                  <a:tcPr marL="45720" marR="45720">
                    <a:solidFill>
                      <a:srgbClr val="17324D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S1–S3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Synthetic client exports, revisions, returns, costs and options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S4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Archived ECB reference-rate history; sale-month means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S5–S6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Archived World Bank population / GDP per capita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S7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243746"/>
                          </a:solidFill>
                          <a:latin typeface="Aptos"/>
                        </a:defRPr>
                      </a:pPr>
                      <a:r>
                        <a:t>Synthetic scenario policy and stress formula</a:t>
                      </a:r>
                    </a:p>
                  </a:txBody>
                  <a:tcPr marL="45720" marR="45720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343400"/>
            <a:ext cx="4983480" cy="9144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Aptos"/>
              </a:rPr>
              <a:t>Full sources, hashes, processed tables and reproducible scripts are delivered with the report and workbook.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607382"/>
                </a:solidFill>
                <a:latin typeface="Aptos"/>
              </a:rPr>
              <a:t>Do not read this recommendation as statistically proven, causal or certain; it is a transparent choice under synthetic assumptions and a defined stress.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Parts — European service-hub expansion</dc:title>
  <dc:subject>Board presentation</dc:subject>
  <dc:creator>Meridian Parts operations analysis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