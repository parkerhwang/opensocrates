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6E69"/>
                </a:solidFill>
                <a:latin typeface="Aptos"/>
              </a:defRPr>
            </a:pPr>
            <a:r>
              <a:t>MERIDIAN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324F"/>
                </a:solidFill>
                <a:latin typeface="Aptos"/>
              </a:defRPr>
            </a:pPr>
            <a:r>
              <a:t>European service-hub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9659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D6D78"/>
                </a:solidFill>
                <a:latin typeface="Aptos"/>
              </a:defRPr>
            </a:pPr>
            <a:r>
              <a:t>Board decision brief | 2025 operating evidence and gated 90-day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063240"/>
            <a:ext cx="283464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72968"/>
            <a:ext cx="26151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RECOMMENDED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10712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CZE + ESP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3063240"/>
            <a:ext cx="219456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E2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3172968"/>
            <a:ext cx="1975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YEAR-ZERO CAPEX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3410712"/>
            <a:ext cx="19751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€225k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63240"/>
            <a:ext cx="146304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3172968"/>
            <a:ext cx="1243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FTE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3410712"/>
            <a:ext cx="1243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063240"/>
            <a:ext cx="256032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E2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3172968"/>
            <a:ext cx="23408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BASE ANNUAL INCREMENT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410712"/>
            <a:ext cx="234086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€198.1k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Approve staged funding; release ESP only after measured CZE volume, saving and return-rate gates are met. Scenario arithmetic is not a causal forecast or DCF.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6E69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"/>
              </a:defRPr>
            </a:pPr>
            <a:r>
              <a:t>The board can fund growth inside both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D6D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0313F"/>
                </a:solidFill>
                <a:latin typeface="Aptos"/>
              </a:defRPr>
            </a:pPr>
            <a:r>
              <a:t>CZE+ESP is the highest modeled feasible base-case alternative. It stays positive under the defined low and stress cases, but stress payback is 6.99 years—why the second site is gated.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46888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58568"/>
            <a:ext cx="2249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LOW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96312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€64.6k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48840"/>
            <a:ext cx="246888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258568"/>
            <a:ext cx="2249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496312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€198.1k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148840"/>
            <a:ext cx="246888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E2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2258568"/>
            <a:ext cx="2249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DEFINED 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496312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€32.2k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148840"/>
            <a:ext cx="246888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E2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42248" y="2258568"/>
            <a:ext cx="22494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BASE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2496312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1.14 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1  Approve the EUR225k / 5 FTE envelope.</a:t>
            </a:r>
            <a:br/>
            <a:r>
              <a:t>2  Mobilize CZE as the first site.</a:t>
            </a:r>
            <a:br/>
            <a:r>
              <a:t>3  Release ESP at Gate 3 only if volume ≥20% uplift, saving ≥90% of assumption, returns ≤ baseline +0.5 pp, and the envelope holds.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313F"/>
                </a:solidFill>
                <a:latin typeface="Aptos"/>
              </a:defRPr>
            </a:pPr>
            <a:r>
              <a:t>Strongest alternative: POL+ESP = €186.3k base, €240k capex, 6 FTE, 1.29-year payback. CZE+ESP adds €11.8k annual contribution with €15k less capex and one fewer FTE.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6E69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"/>
              </a:defRPr>
            </a:pPr>
            <a:r>
              <a:t>2025 network contribution is €2.03m on €4.38m net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D6D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14884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27048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SHIPPED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1,254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417320"/>
            <a:ext cx="214884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527048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SHIPPED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176479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77,436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417320"/>
            <a:ext cx="214884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1527048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NET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176479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€4.38m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417320"/>
            <a:ext cx="214884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0B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7" y="1527048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176479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46.3%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417320"/>
            <a:ext cx="1828800" cy="868680"/>
          </a:xfrm>
          <a:prstGeom prst="roundRect">
            <a:avLst/>
          </a:prstGeom>
          <a:solidFill>
            <a:srgbClr val="EEF4F7"/>
          </a:solidFill>
          <a:ln>
            <a:solidFill>
              <a:srgbClr val="E28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93807" y="1527048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5D6D78"/>
                </a:solidFill>
                <a:latin typeface="Aptos"/>
              </a:defRPr>
            </a:pPr>
            <a:r>
              <a:t>RETURNED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7" y="176479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324F"/>
                </a:solidFill>
                <a:latin typeface="Aptos"/>
              </a:defRPr>
            </a:pPr>
            <a:r>
              <a:t>1,081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Contribution by country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ESP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3182112"/>
            <a:ext cx="3931920" cy="164592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17320" y="3182112"/>
            <a:ext cx="3931920" cy="16459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22392" y="313639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€421,900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478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CZE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3575304"/>
            <a:ext cx="3931920" cy="164592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7320" y="3575304"/>
            <a:ext cx="3702983" cy="16459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2392" y="352958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€397,335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4106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POL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3968496"/>
            <a:ext cx="3931920" cy="164592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17320" y="3968496"/>
            <a:ext cx="3322360" cy="164592"/>
          </a:xfrm>
          <a:prstGeom prst="rect">
            <a:avLst/>
          </a:prstGeom>
          <a:solidFill>
            <a:srgbClr val="E2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22392" y="392277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€356,494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34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NLD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7320" y="4361688"/>
            <a:ext cx="3931920" cy="164592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17320" y="4361688"/>
            <a:ext cx="2941660" cy="164592"/>
          </a:xfrm>
          <a:prstGeom prst="rect">
            <a:avLst/>
          </a:prstGeom>
          <a:solidFill>
            <a:srgbClr val="E2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2392" y="431596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€315,644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7274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FRA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7320" y="4754880"/>
            <a:ext cx="3931920" cy="164592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17320" y="4754880"/>
            <a:ext cx="2574720" cy="164592"/>
          </a:xfrm>
          <a:prstGeom prst="rect">
            <a:avLst/>
          </a:prstGeom>
          <a:solidFill>
            <a:srgbClr val="E2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22392" y="47091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€276,271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1206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DEU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17320" y="5148072"/>
            <a:ext cx="3931920" cy="164592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17320" y="5148072"/>
            <a:ext cx="2445127" cy="164592"/>
          </a:xfrm>
          <a:prstGeom prst="rect">
            <a:avLst/>
          </a:prstGeom>
          <a:solidFill>
            <a:srgbClr val="E28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51023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20313F"/>
                </a:solidFill>
                <a:latin typeface="Aptos"/>
              </a:defRPr>
            </a:pPr>
            <a:r>
              <a:t>€262,366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Accounting discipline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1546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313F"/>
                </a:solidFill>
                <a:latin typeface="Aptos"/>
              </a:defRPr>
            </a:pPr>
            <a:r>
              <a:t>• Highest revision wins; repeated rows collapse</a:t>
            </a:r>
            <a:br/>
            <a:r>
              <a:t>• 24 cancelled + 18 test + 1 future shipped order excluded</a:t>
            </a:r>
            <a:br/>
            <a:r>
              <a:t>• 12 valid zero-price shipments retained</a:t>
            </a:r>
            <a:br/>
            <a:r>
              <a:t>• One orphan return quarantined; one late return excluded</a:t>
            </a:r>
            <a:br/>
            <a:r>
              <a:t>• Refunds and units attributed to original sale month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3492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324F"/>
                </a:solidFill>
                <a:latin typeface="Aptos"/>
              </a:defRPr>
            </a:pPr>
            <a:r>
              <a:t>Contribution = net sales − net COGS − nonrefundable fulfillment. It is not cash and excludes hub capex/fixed cost.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6E69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"/>
              </a:defRPr>
            </a:pPr>
            <a:r>
              <a:t>Market scale supports screening; it does not prove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D6D7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Archived World Bank context (2022–2024)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188720" cy="34747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37943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783080"/>
            <a:ext cx="1554480" cy="34747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1095" y="1837943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Pop.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1737360" cy="34747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837943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GDP pc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30552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185416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DEU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2130552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11095" y="218541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+0.4%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130552"/>
            <a:ext cx="17373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5576" y="2185416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+11.1%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478024"/>
            <a:ext cx="118872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532888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FRA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2478024"/>
            <a:ext cx="155448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11095" y="2532888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+0.5%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2478024"/>
            <a:ext cx="173736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65576" y="2532888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+12.5%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825496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2880360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NLD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2825496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11095" y="288036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+1.7%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2825496"/>
            <a:ext cx="17373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65576" y="2880360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+14.1%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172968"/>
            <a:ext cx="118872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3227832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POL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3172968"/>
            <a:ext cx="155448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11095" y="3227832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-0.7%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172968"/>
            <a:ext cx="173736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5576" y="3227832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+32.9%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520439"/>
            <a:ext cx="11887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3575303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CZE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19" y="3520439"/>
            <a:ext cx="15544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11095" y="3575303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+2.2%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3520439"/>
            <a:ext cx="17373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3575303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+12.5%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3867912"/>
            <a:ext cx="118872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" y="3922776"/>
            <a:ext cx="1115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ESP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19" y="3867912"/>
            <a:ext cx="155448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11095" y="3922776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+2.2%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29000" y="3867912"/>
            <a:ext cx="1737360" cy="34747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65576" y="3922776"/>
            <a:ext cx="16642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+16.5%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Implications for this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178308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0313F"/>
                </a:solidFill>
                <a:latin typeface="Aptos"/>
              </a:defRPr>
            </a:pPr>
            <a:r>
              <a:t>• CZE and ESP show +2.2% population growth, providing scale context.</a:t>
            </a:r>
            <a:br/>
            <a:r>
              <a:t>• POL population declined 0.7% despite nominal GDP pc growth.</a:t>
            </a:r>
            <a:br/>
            <a:r>
              <a:t>• Current-US-dollar GDP embeds FX and price effects; it is not PPP or real income.</a:t>
            </a:r>
            <a:br/>
            <a:r>
              <a:t>• Selection is driven by shipped units, contribution, savings and fixed cost—not demographics alone.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FX control: original sale-month ECB mean business-day quote, local currency per EUR; EUR=1. PLN 4.1722–4.2658 and CZK 24.2341–25.1633 across 2025.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6E69"/>
                </a:solidFill>
                <a:latin typeface="Aptos"/>
              </a:defRPr>
            </a:pPr>
            <a: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"/>
              </a:defRPr>
            </a:pPr>
            <a:r>
              <a:t>CZE+ESP leads the feasible pair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D6D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463040" cy="3931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63624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Pair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508760"/>
            <a:ext cx="1554480" cy="3931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156362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508760"/>
            <a:ext cx="1554480" cy="3931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156362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508760"/>
            <a:ext cx="1554480" cy="3931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156362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508760"/>
            <a:ext cx="1371600" cy="3931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6" y="1563624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Capex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731520" cy="3931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563624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FTE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1901952"/>
            <a:ext cx="14630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1956816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CZE+ESP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1901952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195681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€64,619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1901952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6" y="195681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€198,099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1901952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0096" y="1956816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€32,180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901952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6" y="195681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€225,000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901952"/>
            <a:ext cx="7315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1956816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295144"/>
            <a:ext cx="146304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2350008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POL+ESP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2295144"/>
            <a:ext cx="155448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31136" y="2350008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€58,562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2295144"/>
            <a:ext cx="155448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85616" y="2350008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€186,329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2295144"/>
            <a:ext cx="155448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0096" y="2350008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€29,264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2295144"/>
            <a:ext cx="137160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2350008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€240,000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2295144"/>
            <a:ext cx="73152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5" y="2350008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2688336"/>
            <a:ext cx="14630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274320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POL+CZE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2688336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31136" y="274320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€56,856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2688336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85616" y="274320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€178,995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2688336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0096" y="274320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-€78,570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2688336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94576" y="2743200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€205,000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688336"/>
            <a:ext cx="7315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66175" y="27432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081528"/>
            <a:ext cx="146304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3136392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NLD+ESP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94560" y="3081528"/>
            <a:ext cx="155448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31136" y="3136392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€43,994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3081528"/>
            <a:ext cx="155448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85616" y="3136392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€166,931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3081528"/>
            <a:ext cx="155448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0096" y="3136392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€107,630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3081528"/>
            <a:ext cx="137160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94576" y="3136392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€270,000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081528"/>
            <a:ext cx="731520" cy="3931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66175" y="3136392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3474720"/>
            <a:ext cx="14630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6" y="3529584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NLD+CZE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94560" y="3474720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31136" y="352958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€42,289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0" y="3474720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5616" y="352958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€159,598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3474720"/>
            <a:ext cx="155448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0096" y="3529584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-€203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3474720"/>
            <a:ext cx="137160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94576" y="3529584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€235,000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3474720"/>
            <a:ext cx="7315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66175" y="3529584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313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Why not simply choose the cheapest?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452628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313F"/>
                </a:solidFill>
                <a:latin typeface="Aptos"/>
              </a:defRPr>
            </a:pPr>
            <a:r>
              <a:t>POL+CZE saves €20k capex versus CZE+ESP but is negative in the defined joint stress because both markets carry the PLN/CZK depreciation shock.</a:t>
            </a:r>
            <a:br/>
            <a:br/>
            <a:r>
              <a:t>Why not POL+ESP? It is the strongest alternative on base contribution, but it needs one more FTE and €15k more capex for €11.8k less annual base contribution.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5120" y="44348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All six singles, all 15 pairs, feasibility constraints and all four scenarios are in the analytical workbook.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6E69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"/>
              </a:defRPr>
            </a:pPr>
            <a:r>
              <a:t>Scenario economics are transparent—and deliberately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D6D7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Annual incremental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C × volume uplift + U × (1 + uplift) × per-unit saving − annual fixed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Stress overlay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0313F"/>
                </a:solidFill>
                <a:latin typeface="Aptos"/>
              </a:defRPr>
            </a:pPr>
            <a:r>
              <a:t>3% of gross sales refund shock; plus 10% of net sales depreciation shock in PLN/CZK markets; then 25% uplift.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What the model does not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0313F"/>
                </a:solidFill>
                <a:latin typeface="Aptos"/>
              </a:defRPr>
            </a:pPr>
            <a:r>
              <a:t>• No causal demand estimate</a:t>
            </a:r>
            <a:br/>
            <a:r>
              <a:t>• No statistical confidence or probability of scenarios</a:t>
            </a:r>
            <a:br/>
            <a:r>
              <a:t>• No DCF, ramp, tax, financing, synergy or capacity model</a:t>
            </a:r>
            <a:br/>
            <a:r>
              <a:t>• No proof that population/GDP drives parts demand</a:t>
            </a:r>
            <a:br/>
            <a:r>
              <a:t>• ECB rates are analytical reference translations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Decision implication: use the model to rank options and set gates, then refresh with observed pilot evidence before full rollout.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6E69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"/>
              </a:defRPr>
            </a:pPr>
            <a:r>
              <a:t>A 90-day CZE-first plan creates an exit ramp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D6D7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914400" cy="6217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72184"/>
            <a:ext cx="841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417320"/>
            <a:ext cx="1920240" cy="6217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6776" y="1472184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17320"/>
            <a:ext cx="7680960" cy="621792"/>
          </a:xfrm>
          <a:prstGeom prst="rect">
            <a:avLst/>
          </a:prstGeom>
          <a:solidFill>
            <a:srgbClr val="16324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6" y="1472184"/>
            <a:ext cx="7607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Output /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39112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093976"/>
            <a:ext cx="841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0–15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039112"/>
            <a:ext cx="1920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36776" y="2093976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COO + Finance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039112"/>
            <a:ext cx="7680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016" y="2093976"/>
            <a:ext cx="7607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Scope, data dictionary, SLA baseline, capex/FTE controls; Gate 0 sign-off.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60904"/>
            <a:ext cx="914400" cy="6217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2715768"/>
            <a:ext cx="841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16–45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2660904"/>
            <a:ext cx="1920240" cy="6217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6776" y="2715768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Ops + 3PL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60904"/>
            <a:ext cx="7680960" cy="6217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6" y="2715768"/>
            <a:ext cx="7607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CZE pilot, local handling/returns, WMS test; ≥90% SLA and saving run-rate.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282696"/>
            <a:ext cx="9144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3337560"/>
            <a:ext cx="841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46–75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3282696"/>
            <a:ext cx="1920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36776" y="3337560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Commercial + CX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3282696"/>
            <a:ext cx="76809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7016" y="3337560"/>
            <a:ext cx="7607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Instrument promise, conversion, contacts, return reasons; Gate 2 CZE contribution run-rate.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904488"/>
            <a:ext cx="914400" cy="6217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3959352"/>
            <a:ext cx="841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76–90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3904488"/>
            <a:ext cx="1920240" cy="6217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36776" y="3959352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Board + COO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3904488"/>
            <a:ext cx="7680960" cy="621792"/>
          </a:xfrm>
          <a:prstGeom prst="rect">
            <a:avLst/>
          </a:prstGeom>
          <a:solidFill>
            <a:srgbClr val="EEF4F7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57016" y="3959352"/>
            <a:ext cx="7607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0313F"/>
                </a:solidFill>
                <a:latin typeface="Aptos"/>
              </a:defRPr>
            </a:pPr>
            <a:r>
              <a:t>Update actuals and release ESP only if ≥20% uplift, ≥90% saving, return rate ≤ baseline +0.5 pp.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Weekly KPIs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1206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313F"/>
                </a:solidFill>
                <a:latin typeface="Aptos"/>
              </a:defRPr>
            </a:pPr>
            <a:r>
              <a:t>Units / orders • SLA • order-to-ship hours • saving €/unit • return rate • restocked recovery • contribution run-rate • capex • FTE utilization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6E69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"/>
              </a:defRPr>
            </a:pPr>
            <a:r>
              <a:t>Fund the path, preserve the option to 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25603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5D6D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1155680" cy="27432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Board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  <a:latin typeface="Aptos"/>
              </a:defRPr>
            </a:pPr>
            <a:r>
              <a:t>Approve staged CZE + ESP funding within EUR225k capex and 5 FTE; authorize CZE mobilization now; make ESP conditional on Gate 3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6E69"/>
                </a:solidFill>
                <a:latin typeface="Aptos"/>
              </a:defRPr>
            </a:pPr>
            <a:r>
              <a:t>Evidence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0313F"/>
                </a:solidFill>
                <a:latin typeface="Aptos"/>
              </a:defRPr>
            </a:pPr>
            <a:r>
              <a:t>Report PDF</a:t>
            </a:r>
            <a:br/>
            <a:r>
              <a:t>Analytical XLSX</a:t>
            </a:r>
            <a:br/>
            <a:r>
              <a:t>metrics.json</a:t>
            </a:r>
            <a:br/>
            <a:r>
              <a:t>analysis/analysis.py</a:t>
            </a:r>
            <a:br/>
            <a:r>
              <a:t>analysis/make_deliverables.py</a:t>
            </a:r>
            <a:br/>
            <a:r>
              <a:t>evidence/raw + source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8"/>
                </a:solidFill>
                <a:latin typeface="Aptos"/>
              </a:defRPr>
            </a:pPr>
            <a:r>
              <a:t>Reproducibility: from project root, run `python3 analysis/analysis.py` then `python3 analysis/make_deliverables.py`.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D6D78"/>
                </a:solidFill>
                <a:latin typeface="Aptos"/>
              </a:defRPr>
            </a:pPr>
            <a:r>
              <a:t>Meridian Parts | synthetic decision support | 27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