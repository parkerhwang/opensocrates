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1430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ACEC1"/>
                </a:solidFill>
                <a:latin typeface="Aptos"/>
              </a:defRPr>
            </a:pPr>
            <a:r>
              <a:t>MERIDIAN 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73736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"/>
              </a:defRPr>
            </a:pPr>
            <a:r>
              <a:t>European service-hub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Board recommendation: gated funding for CZE, ESP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74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AE6EF"/>
                </a:solidFill>
                <a:latin typeface="Aptos"/>
              </a:defRPr>
            </a:pPr>
            <a:r>
              <a:t>€225,000 capex | 5 FTE | €198,099 base annual incremental contribution | 1.14-year payback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2578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AE6EF"/>
                </a:solidFill>
                <a:latin typeface="Aptos"/>
              </a:defRPr>
            </a:pPr>
            <a:r>
              <a:t>2025 shipped sales and returns through 2026-01-31</a:t>
            </a:r>
            <a:br/>
            <a:r>
              <a:t>Synthetic client data; archived official World Bank and ECB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ACEC1"/>
                </a:solidFill>
                <a:latin typeface="Aptos"/>
              </a:defRPr>
            </a:pPr>
            <a:r>
              <a:t>27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223A"/>
                </a:solidFill>
                <a:latin typeface="Aptos"/>
              </a:defRPr>
            </a:pPr>
            <a:r>
              <a:t>Decision in one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46475"/>
                </a:solidFill>
                <a:latin typeface="Aptos"/>
              </a:defRPr>
            </a:pPr>
            <a:r>
              <a:t>Approve discovery now; release capex only after the 90-day gates.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1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546475"/>
                </a:solidFill>
                <a:latin typeface="Aptos"/>
              </a:defRPr>
            </a:pPr>
            <a:r>
              <a:t>Meridian Parts | Synthetic client inputs + archived official snapshots | Not a causal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54647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2148840" cy="1234440"/>
          </a:xfrm>
          <a:prstGeom prst="roundRect">
            <a:avLst/>
          </a:prstGeom>
          <a:solidFill>
            <a:srgbClr val="00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673352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Selected pair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659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CZE + ESP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359152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0F8FA"/>
                </a:solidFill>
                <a:latin typeface="Aptos"/>
              </a:defRPr>
            </a:pPr>
            <a:r>
              <a:t>Highest base-case feasible pair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508760"/>
            <a:ext cx="2148840" cy="1234440"/>
          </a:xfrm>
          <a:prstGeom prst="roundRect">
            <a:avLst/>
          </a:prstGeom>
          <a:solidFill>
            <a:srgbClr val="1E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2424" y="1673352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Annual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4" y="19659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€198,099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2359152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0F8FA"/>
                </a:solidFill>
                <a:latin typeface="Aptos"/>
              </a:defRPr>
            </a:pPr>
            <a:r>
              <a:t>After recurring fixed cost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1508760"/>
            <a:ext cx="2148840" cy="1234440"/>
          </a:xfrm>
          <a:prstGeom prst="roundRect">
            <a:avLst/>
          </a:prstGeom>
          <a:solidFill>
            <a:srgbClr val="E0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52744" y="1673352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Year-zero capex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2744" y="19659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€225,000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2744" y="2359152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0F8FA"/>
                </a:solidFill>
                <a:latin typeface="Aptos"/>
              </a:defRPr>
            </a:pPr>
            <a:r>
              <a:t>50% of EUR450k cap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1508760"/>
            <a:ext cx="2148840" cy="1234440"/>
          </a:xfrm>
          <a:prstGeom prst="roundRect">
            <a:avLst/>
          </a:prstGeom>
          <a:solidFill>
            <a:srgbClr val="2A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1673352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People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19659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5 FTE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3064" y="2359152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0F8FA"/>
                </a:solidFill>
                <a:latin typeface="Aptos"/>
              </a:defRPr>
            </a:pPr>
            <a:r>
              <a:t>Within seven-FTE cap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23A"/>
                </a:solidFill>
                <a:latin typeface="Aptos"/>
              </a:defRPr>
            </a:pPr>
            <a:r>
              <a:t>Hard constraints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61188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7364A"/>
                </a:solidFill>
                <a:latin typeface="Aptos"/>
              </a:defRPr>
            </a:pPr>
            <a:r>
              <a:t>≤2 hubs  •  ≤€450,000 capex  •  ≤7 FTE  •  defer all remains feasible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519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Flip before commitment if validated volume uplift is below 2.74%, realized savings do not cover fixed cost, service-level improvement is not verified, or the defined stress becomes negative.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223A"/>
                </a:solidFill>
                <a:latin typeface="Aptos"/>
              </a:defRPr>
            </a:pPr>
            <a:r>
              <a:t>2025 baseline: where contribution is concentrated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46475"/>
                </a:solidFill>
                <a:latin typeface="Aptos"/>
              </a:defRPr>
            </a:pPr>
            <a:r>
              <a:t>Country totals from reconciled canonical orders; source register S03–S08.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1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546475"/>
                </a:solidFill>
                <a:latin typeface="Aptos"/>
              </a:defRPr>
            </a:pPr>
            <a:r>
              <a:t>Meridian Parts | Synthetic client inputs + archived official snapshots | Not a causal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546475"/>
                </a:solidFill>
                <a:latin typeface="Aptos"/>
              </a:defRPr>
            </a:pPr>
            <a:r>
              <a:t>3</a:t>
            </a:r>
          </a:p>
        </p:txBody>
      </p:sp>
      <p:pic>
        <p:nvPicPr>
          <p:cNvPr id="7" name="Picture 6" descr="baseline_con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40080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508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23A"/>
                </a:solidFill>
                <a:latin typeface="Aptos"/>
              </a:defRPr>
            </a:pPr>
            <a:r>
              <a:t>Read-out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92024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7364A"/>
                </a:solidFill>
                <a:latin typeface="Aptos"/>
              </a:defRPr>
            </a:pPr>
            <a:r>
              <a:t>DEU: €262,366 contribution, 41.9% margin, 12,153 units</a:t>
            </a:r>
            <a:br/>
            <a:r>
              <a:t>FRA: €276,271 contribution, 43.7% margin, 11,880 units</a:t>
            </a:r>
            <a:br/>
            <a:r>
              <a:t>NLD: €315,644 contribution, 45.2% margin, 12,576 units</a:t>
            </a:r>
            <a:br/>
            <a:r>
              <a:t>POL: €356,494 contribution, 46.8% margin, 13,163 units</a:t>
            </a:r>
            <a:br/>
            <a:r>
              <a:t>CZE: €397,335 contribution, 48.7% margin, 13,733 units</a:t>
            </a:r>
            <a:br/>
            <a:r>
              <a:t>ESP: €421,900 contribution, 49.6% margin, 13,931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46634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3A"/>
                </a:solidFill>
                <a:latin typeface="Aptos"/>
              </a:defRPr>
            </a:pPr>
            <a:r>
              <a:t>Spain leads contribution; Czechia is second and has a low capex/FTE option. These are observed ledger facts, not proof that hubs cause demand.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223A"/>
                </a:solidFill>
                <a:latin typeface="Aptos"/>
              </a:defRPr>
            </a:pPr>
            <a:r>
              <a:t>The base is controlled, not cosmetically cleaned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46475"/>
                </a:solidFill>
                <a:latin typeface="Aptos"/>
              </a:defRPr>
            </a:pPr>
            <a:r>
              <a:t>Edge cases were reconciled and disclosed in the workbook Quality sheet and metrics.json.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1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546475"/>
                </a:solidFill>
                <a:latin typeface="Aptos"/>
              </a:defRPr>
            </a:pPr>
            <a:r>
              <a:t>Meridian Parts | Synthetic client inputs + archived official snapshots | Not a causal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54647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2331720" cy="960120"/>
          </a:xfrm>
          <a:prstGeom prst="roundRect">
            <a:avLst/>
          </a:prstGeom>
          <a:solidFill>
            <a:srgbClr val="EBF1F7"/>
          </a:solidFill>
          <a:ln>
            <a:solidFill>
              <a:srgbClr val="D1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1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223A"/>
                </a:solidFill>
                <a:latin typeface="Aptos"/>
              </a:defRPr>
            </a:pPr>
            <a:r>
              <a:t>1,310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39112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46475"/>
                </a:solidFill>
                <a:latin typeface="Aptos"/>
              </a:defRPr>
            </a:pPr>
            <a:r>
              <a:t>raw order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508760"/>
            <a:ext cx="2331720" cy="960120"/>
          </a:xfrm>
          <a:prstGeom prst="roundRect">
            <a:avLst/>
          </a:prstGeom>
          <a:solidFill>
            <a:srgbClr val="EBF1F7"/>
          </a:solidFill>
          <a:ln>
            <a:solidFill>
              <a:srgbClr val="D1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64591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223A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039112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46475"/>
                </a:solidFill>
                <a:latin typeface="Aptos"/>
              </a:defRPr>
            </a:pPr>
            <a:r>
              <a:t>identical order rows removed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508760"/>
            <a:ext cx="2331720" cy="960120"/>
          </a:xfrm>
          <a:prstGeom prst="roundRect">
            <a:avLst/>
          </a:prstGeom>
          <a:solidFill>
            <a:srgbClr val="EBF1F7"/>
          </a:solidFill>
          <a:ln>
            <a:solidFill>
              <a:srgbClr val="D1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4591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223A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39112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46475"/>
                </a:solidFill>
                <a:latin typeface="Aptos"/>
              </a:defRPr>
            </a:pPr>
            <a:r>
              <a:t>whole-row corrections applied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3999" y="1508760"/>
            <a:ext cx="2331720" cy="960120"/>
          </a:xfrm>
          <a:prstGeom prst="roundRect">
            <a:avLst/>
          </a:prstGeom>
          <a:solidFill>
            <a:srgbClr val="EBF1F7"/>
          </a:solidFill>
          <a:ln>
            <a:solidFill>
              <a:srgbClr val="D1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59" y="164591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223A"/>
                </a:solidFill>
                <a:latin typeface="Aptos"/>
              </a:defRPr>
            </a:pPr>
            <a:r>
              <a:t>1,297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2039112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46475"/>
                </a:solidFill>
                <a:latin typeface="Aptos"/>
              </a:defRPr>
            </a:pPr>
            <a:r>
              <a:t>canonical order IDs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926080"/>
            <a:ext cx="2331720" cy="960120"/>
          </a:xfrm>
          <a:prstGeom prst="roundRect">
            <a:avLst/>
          </a:prstGeom>
          <a:solidFill>
            <a:srgbClr val="EBF1F7"/>
          </a:solidFill>
          <a:ln>
            <a:solidFill>
              <a:srgbClr val="D1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063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223A"/>
                </a:solidFill>
                <a:latin typeface="Aptos"/>
              </a:defRPr>
            </a:pPr>
            <a:r>
              <a:t>1,254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456432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46475"/>
                </a:solidFill>
                <a:latin typeface="Aptos"/>
              </a:defRPr>
            </a:pPr>
            <a:r>
              <a:t>eligible 2025 shipped orders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2926080"/>
            <a:ext cx="2331720" cy="960120"/>
          </a:xfrm>
          <a:prstGeom prst="roundRect">
            <a:avLst/>
          </a:prstGeom>
          <a:solidFill>
            <a:srgbClr val="EBF1F7"/>
          </a:solidFill>
          <a:ln>
            <a:solidFill>
              <a:srgbClr val="D1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3063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223A"/>
                </a:solidFill>
                <a:latin typeface="Aptos"/>
              </a:defRPr>
            </a:pPr>
            <a:r>
              <a:t>241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456432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46475"/>
                </a:solidFill>
                <a:latin typeface="Aptos"/>
              </a:defRPr>
            </a:pPr>
            <a:r>
              <a:t>included returns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79" y="2926080"/>
            <a:ext cx="2331720" cy="960120"/>
          </a:xfrm>
          <a:prstGeom prst="roundRect">
            <a:avLst/>
          </a:prstGeom>
          <a:solidFill>
            <a:srgbClr val="EBF1F7"/>
          </a:solidFill>
          <a:ln>
            <a:solidFill>
              <a:srgbClr val="D1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063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223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56432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46475"/>
                </a:solidFill>
                <a:latin typeface="Aptos"/>
              </a:defRPr>
            </a:pPr>
            <a:r>
              <a:t>orphan return quarantined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3999" y="2926080"/>
            <a:ext cx="2331720" cy="960120"/>
          </a:xfrm>
          <a:prstGeom prst="roundRect">
            <a:avLst/>
          </a:prstGeom>
          <a:solidFill>
            <a:srgbClr val="EBF1F7"/>
          </a:solidFill>
          <a:ln>
            <a:solidFill>
              <a:srgbClr val="D1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59" y="3063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223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59" y="3456432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46475"/>
                </a:solidFill>
                <a:latin typeface="Aptos"/>
              </a:defRPr>
            </a:pPr>
            <a:r>
              <a:t>post-cutoff return excluded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754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23A"/>
                </a:solidFill>
                <a:latin typeface="Aptos"/>
              </a:defRPr>
            </a:pPr>
            <a:r>
              <a:t>Valid zero-price shipments remain in the base. January 2026 shipped rows do not enter 2025. Refunds use the original sale month's ECB mean; return units are physical units, not return orders.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223A"/>
                </a:solidFill>
                <a:latin typeface="Aptos"/>
              </a:defRPr>
            </a:pPr>
            <a:r>
              <a:t>Market context informs execution, not demand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46475"/>
                </a:solidFill>
                <a:latin typeface="Aptos"/>
              </a:defRPr>
            </a:pPr>
            <a:r>
              <a:t>Archived World Bank series [S09–S10] and ECB rates [S11–S12].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1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546475"/>
                </a:solidFill>
                <a:latin typeface="Aptos"/>
              </a:defRPr>
            </a:pPr>
            <a:r>
              <a:t>Meridian Parts | Synthetic client inputs + archived official snapshots | Not a causal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546475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7" name="Picture 6" descr="fx_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5852160" cy="30096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03720" y="14813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23A"/>
                </a:solidFill>
                <a:latin typeface="Aptos"/>
              </a:defRPr>
            </a:pPr>
            <a:r>
              <a:t>Archived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874519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7364A"/>
                </a:solidFill>
                <a:latin typeface="Aptos"/>
              </a:defRPr>
            </a:pPr>
            <a:r>
              <a:t>DEU: population +0.4% (2022–24); GDP pc $56,104 in 2024</a:t>
            </a:r>
            <a:br/>
            <a:r>
              <a:t>FRA: population +0.5% (2022–24); GDP pc $46,103 in 2024</a:t>
            </a:r>
            <a:br/>
            <a:r>
              <a:t>NLD: population +1.7% (2022–24); GDP pc $67,465 in 2024</a:t>
            </a:r>
            <a:br/>
            <a:r>
              <a:t>POL: population -0.7% (2022–24); GDP pc $25,104 in 2024</a:t>
            </a:r>
            <a:br/>
            <a:r>
              <a:t>CZE: population +2.2% (2022–24); GDP pc $31,828 in 2024</a:t>
            </a:r>
            <a:br/>
            <a:r>
              <a:t>ESP: population +2.2% (2022–24); GDP pc $35,327 in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5074920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3A"/>
                </a:solidFill>
                <a:latin typeface="Aptos"/>
              </a:defRPr>
            </a:pPr>
            <a:r>
              <a:t>FX means are translation assumptions for comparable reporting; they are not Meridian transaction rates or a forecast.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223A"/>
                </a:solidFill>
                <a:latin typeface="Aptos"/>
              </a:defRPr>
            </a:pPr>
            <a:r>
              <a:t>Options: CZE + ESP leads on the stated base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46475"/>
                </a:solidFill>
                <a:latin typeface="Aptos"/>
              </a:defRPr>
            </a:pPr>
            <a:r>
              <a:t>All feasible single hubs and pairs shown; pairs add country figures without synergy.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1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546475"/>
                </a:solidFill>
                <a:latin typeface="Aptos"/>
              </a:defRPr>
            </a:pPr>
            <a:r>
              <a:t>Meridian Parts | Synthetic client inputs + archived official snapshots | Not a causal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546475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7" name="Picture 6" descr="op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70432"/>
            <a:ext cx="7863840" cy="54584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49640" y="1417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23A"/>
                </a:solidFill>
                <a:latin typeface="Aptos"/>
              </a:defRPr>
            </a:pPr>
            <a:r>
              <a:t>Base-case leaders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828800"/>
            <a:ext cx="3063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7364A"/>
                </a:solidFill>
                <a:latin typeface="Aptos"/>
              </a:defRPr>
            </a:pPr>
            <a:r>
              <a:t>CZE+ESP: €198,099 base | €32,180 stress | 1.14y</a:t>
            </a:r>
            <a:br/>
            <a:r>
              <a:t>POL+ESP: €186,329 base | €29,264 stress | 1.29y</a:t>
            </a:r>
            <a:br/>
            <a:r>
              <a:t>POL+CZE: €178,995 base | €-78,570 stress | 1.15y</a:t>
            </a:r>
            <a:br/>
            <a:r>
              <a:t>NLD+ESP: €166,931 base | €107,630 stress | 1.62y</a:t>
            </a:r>
            <a:br/>
            <a:r>
              <a:t>NLD+CZE: €159,598 base | €-203 stress | 1.47y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46634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3A"/>
                </a:solidFill>
                <a:latin typeface="Aptos"/>
              </a:defRPr>
            </a:pPr>
            <a:r>
              <a:t>CZE+ESP has a positive defined stress result but the smallest stress cushion among the top base options. This is why the recommendation is gated.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223A"/>
                </a:solidFill>
                <a:latin typeface="Aptos"/>
              </a:defRPr>
            </a:pPr>
            <a:r>
              <a:t>Selected pair economics across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46475"/>
                </a:solidFill>
                <a:latin typeface="Aptos"/>
              </a:defRPr>
            </a:pPr>
            <a:r>
              <a:t>Scenario values are annual incremental contribution after recurring cost; capex is year-zero.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1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546475"/>
                </a:solidFill>
                <a:latin typeface="Aptos"/>
              </a:defRPr>
            </a:pPr>
            <a:r>
              <a:t>Meridian Parts | Synthetic client inputs + archived official snapshots | Not a causal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54647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3A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600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3A"/>
                </a:solidFill>
                <a:latin typeface="Aptos"/>
              </a:defRPr>
            </a:pPr>
            <a:r>
              <a:t>Annual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3A"/>
                </a:solidFill>
                <a:latin typeface="Aptos"/>
              </a:defRPr>
            </a:pPr>
            <a:r>
              <a:t>Payback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029967"/>
            <a:ext cx="7680960" cy="502920"/>
          </a:xfrm>
          <a:prstGeom prst="rect">
            <a:avLst/>
          </a:prstGeom>
          <a:solidFill>
            <a:srgbClr val="FFF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223A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1031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223A"/>
                </a:solidFill>
                <a:latin typeface="Aptos"/>
              </a:defRPr>
            </a:pPr>
            <a:r>
              <a:t>€64,619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223A"/>
                </a:solidFill>
                <a:latin typeface="Aptos"/>
              </a:defRPr>
            </a:pPr>
            <a:r>
              <a:t>3.48 years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670048"/>
            <a:ext cx="7680960" cy="502920"/>
          </a:xfrm>
          <a:prstGeom prst="rect">
            <a:avLst/>
          </a:prstGeom>
          <a:solidFill>
            <a:srgbClr val="EA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743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223A"/>
                </a:solidFill>
                <a:latin typeface="Aptos"/>
              </a:defRPr>
            </a:pPr>
            <a:r>
              <a:t>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743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223A"/>
                </a:solidFill>
                <a:latin typeface="Aptos"/>
              </a:defRPr>
            </a:pPr>
            <a:r>
              <a:t>€198,099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223A"/>
                </a:solidFill>
                <a:latin typeface="Aptos"/>
              </a:defRPr>
            </a:pPr>
            <a:r>
              <a:t>1.14 years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310127"/>
            <a:ext cx="7680960" cy="502920"/>
          </a:xfrm>
          <a:prstGeom prst="rect">
            <a:avLst/>
          </a:prstGeom>
          <a:solidFill>
            <a:srgbClr val="EA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38327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223A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38327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223A"/>
                </a:solidFill>
                <a:latin typeface="Aptos"/>
              </a:defRPr>
            </a:pPr>
            <a:r>
              <a:t>€331,580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8327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223A"/>
                </a:solidFill>
                <a:latin typeface="Aptos"/>
              </a:defRPr>
            </a:pPr>
            <a:r>
              <a:t>0.68 years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950207"/>
            <a:ext cx="7680960" cy="502920"/>
          </a:xfrm>
          <a:prstGeom prst="rect">
            <a:avLst/>
          </a:prstGeom>
          <a:solidFill>
            <a:srgbClr val="F9D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02335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223A"/>
                </a:solidFill>
                <a:latin typeface="Aptos"/>
              </a:defRPr>
            </a:pPr>
            <a:r>
              <a:t>Stress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02335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223A"/>
                </a:solidFill>
                <a:latin typeface="Aptos"/>
              </a:defRPr>
            </a:pPr>
            <a:r>
              <a:t>€32,180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2335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223A"/>
                </a:solidFill>
                <a:latin typeface="Aptos"/>
              </a:defRPr>
            </a:pPr>
            <a:r>
              <a:t>6.99 years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178308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7364A"/>
                </a:solidFill>
                <a:latin typeface="Aptos"/>
              </a:defRPr>
            </a:pPr>
            <a:r>
              <a:t>Break-even volume uplift: 2.74%</a:t>
            </a:r>
            <a:br/>
            <a:r>
              <a:t>Selected pair capex: €225,000 | FTE: 5</a:t>
            </a:r>
            <a:br/>
            <a:r>
              <a:t>Defined stress includes 3% gross-sales refund shock plus 10% net-sales FX shock for PLN/CZK only.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46177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3A"/>
                </a:solidFill>
                <a:latin typeface="Aptos"/>
              </a:defRPr>
            </a:pPr>
            <a:r>
              <a:t>Do not read low/base/high as probabilities. They are planning cases from the synthetic policy.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223A"/>
                </a:solidFill>
                <a:latin typeface="Aptos"/>
              </a:defRPr>
            </a:pPr>
            <a:r>
              <a:t>The decision is a trade-off, not a single-score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46475"/>
                </a:solidFill>
                <a:latin typeface="Aptos"/>
              </a:defRPr>
            </a:pPr>
            <a:r>
              <a:t>Base contribution, stress resilience, capex and staffing point in different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1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546475"/>
                </a:solidFill>
                <a:latin typeface="Aptos"/>
              </a:defRPr>
            </a:pPr>
            <a:r>
              <a:t>Meridian Parts | Synthetic client inputs + archived official snapshots | Not a causal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546475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23A"/>
                </a:solidFill>
                <a:latin typeface="Aptos"/>
              </a:defRPr>
            </a:pPr>
            <a:r>
              <a:t>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55448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23A"/>
                </a:solidFill>
                <a:latin typeface="Aptos"/>
              </a:defRPr>
            </a:pPr>
            <a: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55448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23A"/>
                </a:solidFill>
                <a:latin typeface="Aptos"/>
              </a:defRPr>
            </a:pPr>
            <a:r>
              <a:t>Stress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55448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23A"/>
                </a:solidFill>
                <a:latin typeface="Aptos"/>
              </a:defRPr>
            </a:pPr>
            <a:r>
              <a:t>Capex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55448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23A"/>
                </a:solidFill>
                <a:latin typeface="Aptos"/>
              </a:defRPr>
            </a:pPr>
            <a:r>
              <a:t>FTE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55448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23A"/>
                </a:solidFill>
                <a:latin typeface="Aptos"/>
              </a:defRPr>
            </a:pPr>
            <a:r>
              <a:t>Payback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47672"/>
            <a:ext cx="9784080" cy="566928"/>
          </a:xfrm>
          <a:prstGeom prst="roundRect">
            <a:avLst/>
          </a:prstGeom>
          <a:solidFill>
            <a:srgbClr val="EAF4EE"/>
          </a:solidFill>
          <a:ln>
            <a:solidFill>
              <a:srgbClr val="D1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3A"/>
                </a:solidFill>
                <a:latin typeface="Aptos"/>
              </a:defRPr>
            </a:pPr>
            <a:r>
              <a:t>CZE+ESP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05740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223A"/>
                </a:solidFill>
                <a:latin typeface="Aptos"/>
              </a:defRPr>
            </a:pPr>
            <a:r>
              <a:t>€198,099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05740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223A"/>
                </a:solidFill>
                <a:latin typeface="Aptos"/>
              </a:defRPr>
            </a:pPr>
            <a:r>
              <a:t>€32,180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05740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223A"/>
                </a:solidFill>
                <a:latin typeface="Aptos"/>
              </a:defRPr>
            </a:pPr>
            <a:r>
              <a:t>€225,000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05740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223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05740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223A"/>
                </a:solidFill>
                <a:latin typeface="Aptos"/>
              </a:defRPr>
            </a:pPr>
            <a:r>
              <a:t>1.14y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24912"/>
            <a:ext cx="978408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D1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346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3A"/>
                </a:solidFill>
                <a:latin typeface="Aptos"/>
              </a:defRPr>
            </a:pPr>
            <a:r>
              <a:t>POL+ESP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28346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223A"/>
                </a:solidFill>
                <a:latin typeface="Aptos"/>
              </a:defRPr>
            </a:pPr>
            <a:r>
              <a:t>€186,329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28346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223A"/>
                </a:solidFill>
                <a:latin typeface="Aptos"/>
              </a:defRPr>
            </a:pPr>
            <a:r>
              <a:t>€29,264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28346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223A"/>
                </a:solidFill>
                <a:latin typeface="Aptos"/>
              </a:defRPr>
            </a:pPr>
            <a:r>
              <a:t>€240,000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8346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223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8346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223A"/>
                </a:solidFill>
                <a:latin typeface="Aptos"/>
              </a:defRPr>
            </a:pPr>
            <a:r>
              <a:t>1.29y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502152"/>
            <a:ext cx="978408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D1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61188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3A"/>
                </a:solidFill>
                <a:latin typeface="Aptos"/>
              </a:defRPr>
            </a:pPr>
            <a:r>
              <a:t>NLD+ESP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361188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223A"/>
                </a:solidFill>
                <a:latin typeface="Aptos"/>
              </a:defRPr>
            </a:pPr>
            <a:r>
              <a:t>€166,931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361188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223A"/>
                </a:solidFill>
                <a:latin typeface="Aptos"/>
              </a:defRPr>
            </a:pPr>
            <a:r>
              <a:t>€107,630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361188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223A"/>
                </a:solidFill>
                <a:latin typeface="Aptos"/>
              </a:defRPr>
            </a:pPr>
            <a:r>
              <a:t>€270,000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61188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223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61188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223A"/>
                </a:solidFill>
                <a:latin typeface="Aptos"/>
              </a:defRPr>
            </a:pPr>
            <a:r>
              <a:t>1.62y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89204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23A"/>
                </a:solidFill>
                <a:latin typeface="Aptos"/>
              </a:defRPr>
            </a:pPr>
            <a:r>
              <a:t>CZE+ESP wins the base metric; POL+ESP is the strongest base alternative; NLD+ESP is the stress-oriented alternative. The board's preference between upside and downside resilience should be made explicit at Gate 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223A"/>
                </a:solidFill>
                <a:latin typeface="Aptos"/>
              </a:defRPr>
            </a:pPr>
            <a:r>
              <a:t>90-day implementation: validate before committing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46475"/>
                </a:solidFill>
                <a:latin typeface="Aptos"/>
              </a:defRPr>
            </a:pPr>
            <a:r>
              <a:t>Owners are operating roles; gates protect against assumption risk.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1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546475"/>
                </a:solidFill>
                <a:latin typeface="Aptos"/>
              </a:defRPr>
            </a:pPr>
            <a:r>
              <a:t>Meridian Parts | Synthetic client inputs + archived official snapshots | Not a causal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546475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463040"/>
            <a:ext cx="594360" cy="594360"/>
          </a:xfrm>
          <a:prstGeom prst="ellipse">
            <a:avLst/>
          </a:prstGeom>
          <a:solidFill>
            <a:srgbClr val="00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2763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0–15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813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3A"/>
                </a:solidFill>
                <a:latin typeface="Aptos"/>
              </a:defRPr>
            </a:pPr>
            <a:r>
              <a:t>COO + CFO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481328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7364A"/>
                </a:solidFill>
                <a:latin typeface="Aptos"/>
              </a:defRPr>
            </a:pPr>
            <a:r>
              <a:t>Define KPI baseline, lane map, data owners; authorize discovery only.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048256"/>
            <a:ext cx="73152" cy="502920"/>
          </a:xfrm>
          <a:prstGeom prst="rect">
            <a:avLst/>
          </a:prstGeom>
          <a:solidFill>
            <a:srgbClr val="D1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542032"/>
            <a:ext cx="594360" cy="594360"/>
          </a:xfrm>
          <a:prstGeom prst="ellipse">
            <a:avLst/>
          </a:prstGeom>
          <a:solidFill>
            <a:srgbClr val="00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706624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16–45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560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3A"/>
                </a:solidFill>
                <a:latin typeface="Aptos"/>
              </a:defRPr>
            </a:pPr>
            <a:r>
              <a:t>Ops + Procurement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560320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7364A"/>
                </a:solidFill>
                <a:latin typeface="Aptos"/>
              </a:defRPr>
            </a:pPr>
            <a:r>
              <a:t>Validate freight, labor/partner quotes, returns routing and service promise.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127248"/>
            <a:ext cx="73152" cy="502920"/>
          </a:xfrm>
          <a:prstGeom prst="rect">
            <a:avLst/>
          </a:prstGeom>
          <a:solidFill>
            <a:srgbClr val="D1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3621024"/>
            <a:ext cx="594360" cy="594360"/>
          </a:xfrm>
          <a:prstGeom prst="ellipse">
            <a:avLst/>
          </a:prstGeom>
          <a:solidFill>
            <a:srgbClr val="00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785615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46–75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6393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3A"/>
                </a:solidFill>
                <a:latin typeface="Aptos"/>
              </a:defRPr>
            </a:pPr>
            <a:r>
              <a:t>Country leads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639312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7364A"/>
                </a:solidFill>
                <a:latin typeface="Aptos"/>
              </a:defRPr>
            </a:pPr>
            <a:r>
              <a:t>Run controlled pilot; report uplift, service, savings, refunds and fulfillment.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4206240"/>
            <a:ext cx="73152" cy="502920"/>
          </a:xfrm>
          <a:prstGeom prst="rect">
            <a:avLst/>
          </a:prstGeom>
          <a:solidFill>
            <a:srgbClr val="D1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4700016"/>
            <a:ext cx="594360" cy="594360"/>
          </a:xfrm>
          <a:prstGeom prst="ellipse">
            <a:avLst/>
          </a:prstGeom>
          <a:solidFill>
            <a:srgbClr val="00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864608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76–90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7183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3A"/>
                </a:solidFill>
                <a:latin typeface="Aptos"/>
              </a:defRPr>
            </a:pPr>
            <a:r>
              <a:t>Board + COO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718304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7364A"/>
                </a:solidFill>
                <a:latin typeface="Aptos"/>
              </a:defRPr>
            </a:pPr>
            <a:r>
              <a:t>Go / defer / switch; release capex in tranches if evidence supports.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5099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23A"/>
                </a:solidFill>
                <a:latin typeface="Aptos"/>
              </a:defRPr>
            </a:pPr>
            <a:r>
              <a:t>Gate: measured uplift ≥2.74% for selected pair, realized savings cover fixed cost, and service quality does not deteriorate versus baseline.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223A"/>
                </a:solidFill>
                <a:latin typeface="Aptos"/>
              </a:defRPr>
            </a:pPr>
            <a:r>
              <a:t>Board ask and KPI control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46475"/>
                </a:solidFill>
                <a:latin typeface="Aptos"/>
              </a:defRPr>
            </a:pPr>
            <a:r>
              <a:t>Use the dashboard to turn a planning recommendation into an evidence-based release decision.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1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546475"/>
                </a:solidFill>
                <a:latin typeface="Aptos"/>
              </a:defRPr>
            </a:pPr>
            <a:r>
              <a:t>Meridian Parts | Synthetic client inputs + archived official snapshots | Not a causal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54647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23A"/>
                </a:solidFill>
                <a:latin typeface="Aptos"/>
              </a:defRPr>
            </a:pPr>
            <a:r>
              <a:t>Weekly KPI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F8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874519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7364A"/>
                </a:solidFill>
                <a:latin typeface="Aptos"/>
              </a:defRPr>
            </a:pPr>
            <a:r>
              <a:t>Incremental shipped volume uplift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F8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359152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7364A"/>
                </a:solidFill>
                <a:latin typeface="Aptos"/>
              </a:defRPr>
            </a:pPr>
            <a:r>
              <a:t>Savings per shipped 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4378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F8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843784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7364A"/>
                </a:solidFill>
                <a:latin typeface="Aptos"/>
              </a:defRPr>
            </a:pPr>
            <a:r>
              <a:t>Contribution per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28415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F8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328415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7364A"/>
                </a:solidFill>
                <a:latin typeface="Aptos"/>
              </a:defRPr>
            </a:pPr>
            <a:r>
              <a:t>Return/refund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1304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F8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813048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7364A"/>
                </a:solidFill>
                <a:latin typeface="Aptos"/>
              </a:defRPr>
            </a:pPr>
            <a:r>
              <a:t>Promised-day hit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976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F8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29768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7364A"/>
                </a:solidFill>
                <a:latin typeface="Aptos"/>
              </a:defRPr>
            </a:pPr>
            <a:r>
              <a:t>Capex and FTE burn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23A"/>
                </a:solidFill>
                <a:latin typeface="Aptos"/>
              </a:defRPr>
            </a:pPr>
            <a:r>
              <a:t>Board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1874519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Authorize the 90-day validation envelope.</a:t>
            </a:r>
            <a:br/>
            <a:br/>
            <a:r>
              <a:t>At Gate 3: release CZE + ESP capex, defer, or switch to POL + ESP / NLD + ESP based on measured economics and explicit risk preference.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7880" y="4160520"/>
            <a:ext cx="4800600" cy="914400"/>
          </a:xfrm>
          <a:prstGeom prst="roundRect">
            <a:avLst/>
          </a:prstGeom>
          <a:solidFill>
            <a:srgbClr val="EAF4EE"/>
          </a:solidFill>
          <a:ln>
            <a:solidFill>
              <a:srgbClr val="2A8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4434840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23A"/>
                </a:solidFill>
                <a:latin typeface="Aptos"/>
              </a:defRPr>
            </a:pPr>
            <a:r>
              <a:t>Recommendation: proceed, but make the capex release conditional.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