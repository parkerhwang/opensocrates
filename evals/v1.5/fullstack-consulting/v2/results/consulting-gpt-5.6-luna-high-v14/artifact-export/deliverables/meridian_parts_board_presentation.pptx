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B6E69"/>
                </a:solidFill>
              </a:rPr>
              <a:t>Meridian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74519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53B50"/>
                </a:solidFill>
              </a:rPr>
              <a:t>European service-hub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425466"/>
                </a:solidFill>
              </a:rPr>
              <a:t>Board decision brief | 2025 shipped-sales base | returns cutoff 2026-01-31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0B6E69"/>
                </a:solidFill>
              </a:rPr>
              <a:t>Recommendation: gated funding for CZE+ESP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Decision: fund the highest feasible base-case option, with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394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0B6E69"/>
                </a:solidFill>
              </a:rPr>
              <a:t>CZE+ESP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Base annual incremental contribution: €198,099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Year-zero capex: €225,000; staffing: 5 FTE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Simple payback: 1.14 years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Stress contribution: €32,180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Break-even volume uplift: 2.7%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41732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Alternative: POL+ESP at €186,329 base annual contribution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Hard constraints: €450k capex, 7 FTE, max two hubs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Gate release on observed readiness and a measured uplift/savings bridge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Defer remains the correct action if the gate cannot evidence the premise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2025 baseline: profitable, but economics vary by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untry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1375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13716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53B50"/>
                </a:solidFill>
              </a:defRPr>
            </a:pPr>
            <a:r>
              <a:t>1,254 shipped orders / 77,436 units</a:t>
            </a:r>
          </a:p>
          <a:p>
            <a:pPr>
              <a:spcAft>
                <a:spcPts val="800"/>
              </a:spcAft>
              <a:defRPr sz="1600">
                <a:solidFill>
                  <a:srgbClr val="153B50"/>
                </a:solidFill>
              </a:defRPr>
            </a:pPr>
            <a:r>
              <a:t>€4,383,792 net sales / €2,030,010 contribution</a:t>
            </a:r>
          </a:p>
          <a:p>
            <a:pPr>
              <a:spcAft>
                <a:spcPts val="800"/>
              </a:spcAft>
              <a:defRPr sz="1600">
                <a:solidFill>
                  <a:srgbClr val="153B50"/>
                </a:solidFill>
              </a:defRPr>
            </a:pPr>
            <a:r>
              <a:t>46.3% contribution margin</a:t>
            </a:r>
          </a:p>
          <a:p>
            <a:pPr>
              <a:spcAft>
                <a:spcPts val="800"/>
              </a:spcAft>
              <a:defRPr sz="1600">
                <a:solidFill>
                  <a:srgbClr val="153B50"/>
                </a:solidFill>
              </a:defRPr>
            </a:pPr>
            <a:r>
              <a:t>1,081 returned units</a:t>
            </a:r>
          </a:p>
          <a:p>
            <a:pPr>
              <a:spcAft>
                <a:spcPts val="800"/>
              </a:spcAft>
              <a:defRPr sz="1600">
                <a:solidFill>
                  <a:srgbClr val="153B50"/>
                </a:solidFill>
              </a:defRPr>
            </a:pPr>
            <a:r>
              <a:t>Contribution deducts net COGS and fulfillment; booked revenue and cash timing differ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Controls: the analysis reconciles revisions, duplicates, returns and historical FX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1328 raw order rows → 1297 unique order IDs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13 exact repeats removed; 18 correction revisions selected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24 cancelled, 18 test and 1 non-2025 shipment records excluded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264 raw return rows → 243 return IDs; 1 orphans quarantined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12 PLN and 12 CZK monthly ECB means; sale-month quote used for refunds too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57784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25466"/>
                </a:solidFill>
              </a:rPr>
              <a:t>Archived official snapshots are distinguished from synthetic client inputs; no customer interview or live account access was used.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Market context: scale and income are context, not demand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600891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Population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2022–24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GDP/person</a:t>
                      </a:r>
                    </a:p>
                  </a:txBody>
                  <a:tcPr>
                    <a:solidFill>
                      <a:srgbClr val="0B6E69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Germany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83,516,593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$56,104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France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68,551,653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0.5%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$46,103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Spain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48,848,840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$35,327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Poland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36,559,233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$25,104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Netherlands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17,993,485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1.7%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$67,465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  <a:tr h="60089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Czechia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10,905,028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2.2%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53B50"/>
                          </a:solidFill>
                        </a:defRPr>
                      </a:pPr>
                      <a:r>
                        <a:t>$31,828</a:t>
                      </a:r>
                    </a:p>
                  </a:txBody>
                  <a:tcPr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0" y="1508760"/>
            <a:ext cx="4663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World Bank population and GDP per capita are preserved for 2022–2024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GDP per capita is current US$, not PPP or constant-price real income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Neither series measures product demand, service density, customer concentration or realized hub savings</a:t>
            </a:r>
          </a:p>
          <a:p>
            <a:pPr>
              <a:spcAft>
                <a:spcPts val="800"/>
              </a:spcAft>
              <a:defRPr sz="1700">
                <a:solidFill>
                  <a:srgbClr val="153B50"/>
                </a:solidFill>
              </a:defRPr>
            </a:pPr>
            <a:r>
              <a:t>Use them to frame scale and economic context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Scenario economics: the selected pair wins on base contribution within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enario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7315200" cy="406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32588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53B50"/>
                </a:solidFill>
              </a:defRPr>
            </a:pPr>
            <a:r>
              <a:t>Low/base/high volume uplifts: 10% / 25% / 40%</a:t>
            </a:r>
          </a:p>
          <a:p>
            <a:pPr>
              <a:spcAft>
                <a:spcPts val="800"/>
              </a:spcAft>
              <a:defRPr sz="1500">
                <a:solidFill>
                  <a:srgbClr val="153B50"/>
                </a:solidFill>
              </a:defRPr>
            </a:pPr>
            <a:r>
              <a:t>Stress: 3% gross-sales refund shock + PLN/CZK 10% net-sales FX shock</a:t>
            </a:r>
          </a:p>
          <a:p>
            <a:pPr>
              <a:spcAft>
                <a:spcPts val="800"/>
              </a:spcAft>
              <a:defRPr sz="1500">
                <a:solidFill>
                  <a:srgbClr val="153B50"/>
                </a:solidFill>
              </a:defRPr>
            </a:pPr>
            <a:r>
              <a:t>Capex is year-zero; recurring fixed cost is in annual contribution</a:t>
            </a:r>
          </a:p>
          <a:p>
            <a:pPr>
              <a:spcAft>
                <a:spcPts val="800"/>
              </a:spcAft>
              <a:defRPr sz="1500">
                <a:solidFill>
                  <a:srgbClr val="153B50"/>
                </a:solidFill>
              </a:defRPr>
            </a:pPr>
            <a:r>
              <a:t>Pairs have no synergy in the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90-day implementation: staged release with visible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6E69"/>
                </a:solidFill>
              </a:rPr>
              <a:t>0–30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3258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53B50"/>
                </a:solidFill>
              </a:rPr>
              <a:t>COO +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32588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53B50"/>
                </a:solidFill>
              </a:rPr>
              <a:t>Lock baseline, site shortlist, labor/lease diligence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132588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25466"/>
                </a:solidFill>
              </a:rPr>
              <a:t>Gate: data and legal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6E69"/>
                </a:solidFill>
              </a:rPr>
              <a:t>31–60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60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53B50"/>
                </a:solidFill>
              </a:rPr>
              <a:t>Operations + Procurement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56032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53B50"/>
                </a:solidFill>
              </a:rPr>
              <a:t>Validate quotes, staffing, process and saving 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56032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25466"/>
                </a:solidFill>
              </a:rPr>
              <a:t>Gate: capex/FTE inside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94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0B6E69"/>
                </a:solidFill>
              </a:rPr>
              <a:t>61–90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53B50"/>
                </a:solidFill>
              </a:rPr>
              <a:t>Country lead +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794760"/>
            <a:ext cx="4206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153B50"/>
                </a:solidFill>
              </a:rPr>
              <a:t>Readiness test, training, order/return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94760"/>
            <a:ext cx="2468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25466"/>
                </a:solidFill>
              </a:rPr>
              <a:t>Gate: evidence supports uplift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949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6E69"/>
                </a:solidFill>
              </a:rPr>
              <a:t>Release capex only after KPI evidence: ≥99.5% order-ID reconciliation, ≥95% on-time dispatch, returns processed ≤48h, and a weekly contribution bridge.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00" b="1">
                <a:solidFill>
                  <a:srgbClr val="0B6E69"/>
                </a:solidFill>
              </a:rPr>
              <a:t>Board ask and reopen conditions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0B6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Approve a gated CZE+ESP design envelope: €225,000 capex and 5 FTE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Authorize 90-day validation, not unconditional deployment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Reopen or defer if realized uplift is below 2.7%, savings/return KPIs fail, or capex/fixed-cost assumptions move materially</a:t>
            </a:r>
          </a:p>
          <a:p>
            <a:pPr>
              <a:spcAft>
                <a:spcPts val="800"/>
              </a:spcAft>
              <a:defRPr sz="2000">
                <a:solidFill>
                  <a:srgbClr val="153B50"/>
                </a:solidFill>
              </a:defRPr>
            </a:pPr>
            <a:r>
              <a:t>Treat the output as a supported estimate from synthetic inputs and archived official context; it is not causal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25466"/>
                </a:solidFill>
              </a:rPr>
              <a:t>Source detail, calculation workbook and metrics JSON are delivered alongside this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