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46B8E"/>
                </a:solidFill>
              </a:defRPr>
            </a:pPr>
            <a:r>
              <a:t>BOARD DECISION • 27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</a:defRPr>
            </a:pPr>
            <a:r>
              <a:t>Stage Netherlands + Spain behind a 90-day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6492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7324D"/>
                </a:solidFill>
              </a:defRPr>
            </a:pPr>
            <a:r>
              <a:t>NLD + ESP has the strongest floor across the defined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6217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46B8E"/>
                </a:solidFill>
              </a:defRPr>
            </a:pPr>
            <a:r>
              <a:t>Base €166,931/yr  |  Stress €107,630/yr</a:t>
            </a:r>
          </a:p>
          <a:p>
            <a:pPr>
              <a:defRPr sz="1900" b="1">
                <a:solidFill>
                  <a:srgbClr val="246B8E"/>
                </a:solidFill>
              </a:defRPr>
            </a:pPr>
            <a:r>
              <a:t>Capex €270,000  |  6 FTE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600200"/>
            <a:ext cx="3749039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73743"/>
                </a:solidFill>
              </a:defRPr>
            </a:pPr>
            <a:r>
              <a:t>Board action</a:t>
            </a:r>
          </a:p>
          <a:p>
            <a:pPr>
              <a:defRPr sz="1800" b="0">
                <a:solidFill>
                  <a:srgbClr val="273743"/>
                </a:solidFill>
              </a:defRPr>
            </a:pPr>
          </a:p>
          <a:p>
            <a:pPr>
              <a:defRPr sz="1800" b="0">
                <a:solidFill>
                  <a:srgbClr val="273743"/>
                </a:solidFill>
              </a:defRPr>
            </a:pPr>
            <a:r>
              <a:t>Approve a 90-day reversible pilot and staged capex envelope. Release full investment only after measured savings and incremental volume clear the operating gates. Defer remains a valid outcome.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46B8E"/>
                </a:solidFill>
              </a:defRPr>
            </a:pPr>
            <a:r>
              <a:t>MERIDIAN PARTS  •  Synthetic case  •  Source vintage 27 Sep 2026     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46B8E"/>
                </a:solidFill>
              </a:defRPr>
            </a:pPr>
            <a:r>
              <a:t>OPERATING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</a:defRPr>
            </a:pPr>
            <a:r>
              <a:t>2025 contribution describes the baseline, not hub causality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73743"/>
                </a:solidFill>
              </a:defRPr>
            </a:pPr>
            <a:r>
              <a:t>Sales and margin vary materially by market; option economics depend on local volume response and avoidable fulfillment savings.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828800" cy="34747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Country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2148840"/>
            <a:ext cx="1234440" cy="34747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Orders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794760" y="2148840"/>
            <a:ext cx="1234440" cy="34747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Units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2148840"/>
            <a:ext cx="1828800" cy="34747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Net sales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2148840"/>
            <a:ext cx="1965960" cy="34747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Contribution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23960" y="2148840"/>
            <a:ext cx="1188720" cy="34747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Margin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14600"/>
            <a:ext cx="1828800" cy="429768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Germany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2514600"/>
            <a:ext cx="1234440" cy="429768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209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2514600"/>
            <a:ext cx="1234440" cy="429768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12,153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514600"/>
            <a:ext cx="1828800" cy="429768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€625,792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2514600"/>
            <a:ext cx="1965960" cy="429768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€262,366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23960" y="2514600"/>
            <a:ext cx="1188720" cy="429768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41.9%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971800"/>
            <a:ext cx="182880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France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2971800"/>
            <a:ext cx="123444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209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2971800"/>
            <a:ext cx="123444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11,880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2971800"/>
            <a:ext cx="182880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€632,231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2971800"/>
            <a:ext cx="196596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€276,271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23960" y="2971800"/>
            <a:ext cx="118872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43.7%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429000"/>
            <a:ext cx="1828800" cy="429768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Netherlands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3429000"/>
            <a:ext cx="1234440" cy="429768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209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94760" y="3429000"/>
            <a:ext cx="1234440" cy="429768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12,576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3429000"/>
            <a:ext cx="1828800" cy="429768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€697,733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429000"/>
            <a:ext cx="1965960" cy="429768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€315,644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23960" y="3429000"/>
            <a:ext cx="1188720" cy="429768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45.2%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886200"/>
            <a:ext cx="182880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Poland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3886200"/>
            <a:ext cx="123444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209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94760" y="3886200"/>
            <a:ext cx="123444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13,163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3886200"/>
            <a:ext cx="182880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€761,890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3886200"/>
            <a:ext cx="196596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€356,494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23960" y="3886200"/>
            <a:ext cx="118872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46.8%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343400"/>
            <a:ext cx="1828800" cy="429768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Czechia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0" y="4343400"/>
            <a:ext cx="1234440" cy="429768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209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94760" y="4343400"/>
            <a:ext cx="1234440" cy="429768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13,733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343400"/>
            <a:ext cx="1828800" cy="429768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€815,307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0" y="4343400"/>
            <a:ext cx="1965960" cy="429768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€397,335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23960" y="4343400"/>
            <a:ext cx="1188720" cy="429768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48.7%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4800600"/>
            <a:ext cx="182880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Spain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60320" y="4800600"/>
            <a:ext cx="123444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209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94760" y="4800600"/>
            <a:ext cx="123444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13,931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4800600"/>
            <a:ext cx="182880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€850,839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0" y="4800600"/>
            <a:ext cx="196596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€421,900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23960" y="4800600"/>
            <a:ext cx="118872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49.6%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5321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6B8E"/>
                </a:solidFill>
              </a:defRPr>
            </a:pPr>
            <a:r>
              <a:t>No lead-time, lost-sales, customer interview, or controlled service-hub evidence was supplied. The 2025 shipped mix is not proof of incremental demand.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46B8E"/>
                </a:solidFill>
              </a:defRPr>
            </a:pPr>
            <a:r>
              <a:t>MERIDIAN PARTS  •  Synthetic case  •  Source vintage 27 Sep 2026     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46B8E"/>
                </a:solidFill>
              </a:defRPr>
            </a:pPr>
            <a:r>
              <a:t>SCENARIO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</a:defRPr>
            </a:pPr>
            <a:r>
              <a:t>The strongest feasible alternatives trade modeled return for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73743"/>
                </a:solidFill>
              </a:defRPr>
            </a:pPr>
            <a:r>
              <a:t>Annual incremental contribution after recurring fixed cost; capex is separate year-zero investment.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2560320" cy="43891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Option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39" y="1874519"/>
            <a:ext cx="1371600" cy="43891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Capex yr 0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874519"/>
            <a:ext cx="1371600" cy="43891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Fixed / yr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874519"/>
            <a:ext cx="731520" cy="43891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FTE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59" y="1874519"/>
            <a:ext cx="1417320" cy="43891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Base / yr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80" y="1874519"/>
            <a:ext cx="1417320" cy="43891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Stress / yr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1874519"/>
            <a:ext cx="1417320" cy="43891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Base payback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331720"/>
            <a:ext cx="2560320" cy="548640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73743"/>
                </a:solidFill>
              </a:defRPr>
            </a:pPr>
            <a:r>
              <a:t>NLD + ESP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39" y="2331720"/>
            <a:ext cx="1371600" cy="548640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73743"/>
                </a:solidFill>
              </a:defRPr>
            </a:pPr>
            <a:r>
              <a:t>€270,000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331720"/>
            <a:ext cx="1371600" cy="548640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73743"/>
                </a:solidFill>
              </a:defRPr>
            </a:pPr>
            <a:r>
              <a:t>€120,000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331720"/>
            <a:ext cx="731520" cy="548640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73743"/>
                </a:solidFill>
              </a:defRPr>
            </a:pPr>
            <a:r>
              <a:t>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59" y="2331720"/>
            <a:ext cx="1417320" cy="548640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73743"/>
                </a:solidFill>
              </a:defRPr>
            </a:pPr>
            <a:r>
              <a:t>€166,931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80" y="2331720"/>
            <a:ext cx="1417320" cy="548640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73743"/>
                </a:solidFill>
              </a:defRPr>
            </a:pPr>
            <a:r>
              <a:t>€107,630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2331720"/>
            <a:ext cx="1417320" cy="548640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73743"/>
                </a:solidFill>
              </a:defRPr>
            </a:pPr>
            <a:r>
              <a:t>1.6y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926079"/>
            <a:ext cx="25603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73743"/>
                </a:solidFill>
              </a:defRPr>
            </a:pPr>
            <a:r>
              <a:t>CZE + ESP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39" y="2926079"/>
            <a:ext cx="13716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73743"/>
                </a:solidFill>
              </a:defRPr>
            </a:pPr>
            <a:r>
              <a:t>€225,000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2926079"/>
            <a:ext cx="13716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73743"/>
                </a:solidFill>
              </a:defRPr>
            </a:pPr>
            <a:r>
              <a:t>€95,000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2926079"/>
            <a:ext cx="7315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73743"/>
                </a:solidFill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59" y="2926079"/>
            <a:ext cx="14173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73743"/>
                </a:solidFill>
              </a:defRPr>
            </a:pPr>
            <a:r>
              <a:t>€198,099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80" y="2926079"/>
            <a:ext cx="14173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73743"/>
                </a:solidFill>
              </a:defRPr>
            </a:pPr>
            <a:r>
              <a:t>€32,180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2926079"/>
            <a:ext cx="14173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73743"/>
                </a:solidFill>
              </a:defRPr>
            </a:pPr>
            <a:r>
              <a:t>1.1y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520439"/>
            <a:ext cx="25603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73743"/>
                </a:solidFill>
              </a:defRPr>
            </a:pPr>
            <a:r>
              <a:t>POL + ESP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39" y="3520439"/>
            <a:ext cx="13716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73743"/>
                </a:solidFill>
              </a:defRPr>
            </a:pPr>
            <a:r>
              <a:t>€240,000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3520439"/>
            <a:ext cx="13716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73743"/>
                </a:solidFill>
              </a:defRPr>
            </a:pPr>
            <a:r>
              <a:t>€100,000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3520439"/>
            <a:ext cx="7315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73743"/>
                </a:solidFill>
              </a:defRPr>
            </a:pPr>
            <a: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59" y="3520439"/>
            <a:ext cx="14173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73743"/>
                </a:solidFill>
              </a:defRPr>
            </a:pPr>
            <a:r>
              <a:t>€186,329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80" y="3520439"/>
            <a:ext cx="14173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73743"/>
                </a:solidFill>
              </a:defRPr>
            </a:pPr>
            <a:r>
              <a:t>€29,264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3520439"/>
            <a:ext cx="14173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73743"/>
                </a:solidFill>
              </a:defRPr>
            </a:pPr>
            <a:r>
              <a:t>1.3y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114800"/>
            <a:ext cx="25603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73743"/>
                </a:solidFill>
              </a:defRPr>
            </a:pPr>
            <a:r>
              <a:t>POL + CZE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1839" y="4114800"/>
            <a:ext cx="13716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73743"/>
                </a:solidFill>
              </a:defRPr>
            </a:pPr>
            <a:r>
              <a:t>€205,000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4114800"/>
            <a:ext cx="13716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73743"/>
                </a:solidFill>
              </a:defRPr>
            </a:pPr>
            <a:r>
              <a:t>€85,000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4114800"/>
            <a:ext cx="7315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73743"/>
                </a:solidFill>
              </a:defRPr>
            </a:pPr>
            <a: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59" y="4114800"/>
            <a:ext cx="14173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73743"/>
                </a:solidFill>
              </a:defRPr>
            </a:pPr>
            <a:r>
              <a:t>€178,995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83880" y="4114800"/>
            <a:ext cx="14173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73743"/>
                </a:solidFill>
              </a:defRPr>
            </a:pPr>
            <a:r>
              <a:t>€-78,570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0" y="4114800"/>
            <a:ext cx="14173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73743"/>
                </a:solidFill>
              </a:defRPr>
            </a:pPr>
            <a:r>
              <a:t>1.1y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0749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6B8E"/>
                </a:solidFill>
              </a:defRPr>
            </a:pPr>
            <a:r>
              <a:t>Stress is the client policy’s joint refund/FX shock, not a probability forecast. Recommendation uses the highest minimum across low/base/high/stress; the leading base-only alternative is CZE + ESP.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46B8E"/>
                </a:solidFill>
              </a:defRPr>
            </a:pPr>
            <a:r>
              <a:t>MERIDIAN PARTS  •  Synthetic case  •  Source vintage 27 Sep 2026     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46B8E"/>
                </a:solidFill>
              </a:defRPr>
            </a:pPr>
            <a:r>
              <a:t>EXTERNAL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</a:defRPr>
            </a:pPr>
            <a:r>
              <a:t>Market context helps locate scale, not product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73743"/>
                </a:solidFill>
              </a:defRPr>
            </a:pPr>
            <a:r>
              <a:t>World Bank archived population and current-USD GDP/capita (2022–2024); official snapshot, vintage 27 Sep 2026.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57400"/>
            <a:ext cx="2743200" cy="43891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Country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057400"/>
            <a:ext cx="2926080" cy="43891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Population change 22–24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57400"/>
            <a:ext cx="2926080" cy="43891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GDP/capita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2743200" cy="411480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Germany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514600"/>
            <a:ext cx="2926080" cy="411480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0.4%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514600"/>
            <a:ext cx="2926080" cy="411480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$56,104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53512"/>
            <a:ext cx="27432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France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953512"/>
            <a:ext cx="29260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0.5%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953512"/>
            <a:ext cx="29260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$46,103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92424"/>
            <a:ext cx="2743200" cy="411480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Netherlands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3392424"/>
            <a:ext cx="2926080" cy="411480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1.7%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392424"/>
            <a:ext cx="2926080" cy="411480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$67,465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831335"/>
            <a:ext cx="27432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Poland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3831335"/>
            <a:ext cx="29260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-0.7%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831335"/>
            <a:ext cx="29260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$25,104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270248"/>
            <a:ext cx="2743200" cy="411480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Czechia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4270248"/>
            <a:ext cx="2926080" cy="411480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2.2%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270248"/>
            <a:ext cx="2926080" cy="411480"/>
          </a:xfrm>
          <a:prstGeom prst="rect">
            <a:avLst/>
          </a:prstGeom>
          <a:solidFill>
            <a:srgbClr val="EEF4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$31,828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709160"/>
            <a:ext cx="27432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Spain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4709160"/>
            <a:ext cx="29260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2.2%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709160"/>
            <a:ext cx="29260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273743"/>
                </a:solidFill>
              </a:defRPr>
            </a:pPr>
            <a:r>
              <a:t>$35,327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9496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6B8E"/>
                </a:solidFill>
              </a:defRPr>
            </a:pPr>
            <a:r>
              <a:t>Current USD is not PPP or constant-price income. Population and GDP/capita do not establish Meridian demand.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46B8E"/>
                </a:solidFill>
              </a:defRPr>
            </a:pPr>
            <a:r>
              <a:t>MERIDIAN PARTS  •  Synthetic case  •  Source vintage 27 Sep 2026     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46B8E"/>
                </a:solidFill>
              </a:defRPr>
            </a:pPr>
            <a:r>
              <a:t>90-DAY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</a:defRPr>
            </a:pPr>
            <a:r>
              <a:t>Use staged gates to turn assumptions into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89920" cy="960120"/>
          </a:xfrm>
          <a:prstGeom prst="roundRect">
            <a:avLst/>
          </a:prstGeom>
          <a:solidFill>
            <a:srgbClr val="EEF4F7"/>
          </a:solidFill>
          <a:ln>
            <a:solidFill>
              <a:srgbClr val="D5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270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9D8F"/>
                </a:solidFill>
              </a:defRPr>
            </a:pPr>
            <a:r>
              <a:t>0–15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52704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324D"/>
                </a:solidFill>
              </a:defRPr>
            </a:pPr>
            <a:r>
              <a:t>Finance + COO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490472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73743"/>
                </a:solidFill>
              </a:defRPr>
            </a:pPr>
            <a:r>
              <a:t>Reconcile baseline, avoidable cost, pilot cohort and KPI definitions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2600" y="1536192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46B8E"/>
                </a:solidFill>
              </a:defRPr>
            </a:pPr>
            <a:r>
              <a:t>Gate: auditable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789920" cy="960120"/>
          </a:xfrm>
          <a:prstGeom prst="roundRect">
            <a:avLst/>
          </a:prstGeom>
          <a:solidFill>
            <a:srgbClr val="EEF4F7"/>
          </a:solidFill>
          <a:ln>
            <a:solidFill>
              <a:srgbClr val="D5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700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9D8F"/>
                </a:solidFill>
              </a:defRPr>
            </a:pPr>
            <a:r>
              <a:t>16–35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67004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324D"/>
                </a:solidFill>
              </a:defRPr>
            </a:pPr>
            <a:r>
              <a:t>Ops +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633472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73743"/>
                </a:solidFill>
              </a:defRPr>
            </a:pPr>
            <a:r>
              <a:t>Costed design, service zone, SKU scope, staffing, legal and inventory dependencies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2679191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46B8E"/>
                </a:solidFill>
              </a:defRPr>
            </a:pPr>
            <a:r>
              <a:t>Gate: budget and controls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10789920" cy="960120"/>
          </a:xfrm>
          <a:prstGeom prst="roundRect">
            <a:avLst/>
          </a:prstGeom>
          <a:solidFill>
            <a:srgbClr val="EEF4F7"/>
          </a:solidFill>
          <a:ln>
            <a:solidFill>
              <a:srgbClr val="D5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8130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9D8F"/>
                </a:solidFill>
              </a:defRPr>
            </a:pPr>
            <a:r>
              <a:t>36–65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81304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324D"/>
                </a:solidFill>
              </a:defRPr>
            </a:pPr>
            <a:r>
              <a:t>Country + Supply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776472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73743"/>
                </a:solidFill>
              </a:defRPr>
            </a:pPr>
            <a:r>
              <a:t>Reversible 3PL/temporary pilot; compare against matched 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822191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46B8E"/>
                </a:solidFill>
              </a:defRPr>
            </a:pPr>
            <a:r>
              <a:t>Gate: ≥4 weeks valid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10789920" cy="960120"/>
          </a:xfrm>
          <a:prstGeom prst="roundRect">
            <a:avLst/>
          </a:prstGeom>
          <a:solidFill>
            <a:srgbClr val="EEF4F7"/>
          </a:solidFill>
          <a:ln>
            <a:solidFill>
              <a:srgbClr val="D5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9560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9D8F"/>
                </a:solidFill>
              </a:defRPr>
            </a:pPr>
            <a:r>
              <a:t>66–90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495604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324D"/>
                </a:solidFill>
              </a:defRPr>
            </a:pPr>
            <a:r>
              <a:t>CFO + COO + 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919472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73743"/>
                </a:solidFill>
              </a:defRPr>
            </a:pPr>
            <a:r>
              <a:t>Update scenarios, stress and quotes; release, reconfigure or defer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4965192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46B8E"/>
                </a:solidFill>
              </a:defRPr>
            </a:pPr>
            <a:r>
              <a:t>Gate: positive base contribution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17220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73743"/>
                </a:solidFill>
              </a:defRPr>
            </a:pPr>
            <a:r>
              <a:t>Weekly: incremental orders/units, return rate, contribution after returns, avoidable EUR/unit, OTIF, P90 delivery, fill rate, stock accuracy, capex and FTE.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46B8E"/>
                </a:solidFill>
              </a:defRPr>
            </a:pPr>
            <a:r>
              <a:t>MERIDIAN PARTS  •  Synthetic case  •  Source vintage 27 Sep 2026     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46B8E"/>
                </a:solidFill>
              </a:defRPr>
            </a:pPr>
            <a:r>
              <a:t>RISKS AND SWITCH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</a:defRPr>
            </a:pPr>
            <a:r>
              <a:t>Decision is conditional; reopen it on measured 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73743"/>
                </a:solidFill>
              </a:defRPr>
            </a:pPr>
            <a:r>
              <a:t>What changes the choice</a:t>
            </a:r>
          </a:p>
          <a:p>
            <a:pPr>
              <a:defRPr sz="1700" b="0">
                <a:solidFill>
                  <a:srgbClr val="273743"/>
                </a:solidFill>
              </a:defRPr>
            </a:pPr>
          </a:p>
          <a:p>
            <a:pPr>
              <a:defRPr sz="1700" b="0">
                <a:solidFill>
                  <a:srgbClr val="273743"/>
                </a:solidFill>
              </a:defRPr>
            </a:pPr>
            <a:r>
              <a:t>• Verified volume response below modeled 10–40% uplift</a:t>
            </a:r>
          </a:p>
          <a:p>
            <a:pPr>
              <a:defRPr sz="1700" b="0">
                <a:solidFill>
                  <a:srgbClr val="273743"/>
                </a:solidFill>
              </a:defRPr>
            </a:pPr>
            <a:r>
              <a:t>• Savings prove not avoidable or fixed costs exceed quotes</a:t>
            </a:r>
          </a:p>
          <a:p>
            <a:pPr>
              <a:defRPr sz="1700" b="0">
                <a:solidFill>
                  <a:srgbClr val="273743"/>
                </a:solidFill>
              </a:defRPr>
            </a:pPr>
            <a:r>
              <a:t>• Return shock reduces net contribution</a:t>
            </a:r>
          </a:p>
          <a:p>
            <a:pPr>
              <a:defRPr sz="1700" b="0">
                <a:solidFill>
                  <a:srgbClr val="273743"/>
                </a:solidFill>
              </a:defRPr>
            </a:pPr>
            <a:r>
              <a:t>• Pilot fails delivery, fill-rate or stock-accuracy gates</a:t>
            </a:r>
          </a:p>
          <a:p>
            <a:pPr>
              <a:defRPr sz="1700" b="0">
                <a:solidFill>
                  <a:srgbClr val="273743"/>
                </a:solidFill>
              </a:defRPr>
            </a:pPr>
            <a:r>
              <a:t>• Actual capex/FTE exceed board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73743"/>
                </a:solidFill>
              </a:defRPr>
            </a:pPr>
            <a:r>
              <a:t>Risk controls</a:t>
            </a:r>
          </a:p>
          <a:p>
            <a:pPr>
              <a:defRPr sz="1700" b="0">
                <a:solidFill>
                  <a:srgbClr val="273743"/>
                </a:solidFill>
              </a:defRPr>
            </a:pPr>
          </a:p>
          <a:p>
            <a:pPr>
              <a:defRPr sz="1700" b="0">
                <a:solidFill>
                  <a:srgbClr val="273743"/>
                </a:solidFill>
              </a:defRPr>
            </a:pPr>
            <a:r>
              <a:t>• Matched pilot/holdout before causal lift claims</a:t>
            </a:r>
          </a:p>
          <a:p>
            <a:pPr>
              <a:defRPr sz="1700" b="0">
                <a:solidFill>
                  <a:srgbClr val="273743"/>
                </a:solidFill>
              </a:defRPr>
            </a:pPr>
            <a:r>
              <a:t>• Validate savings against actual invoices</a:t>
            </a:r>
          </a:p>
          <a:p>
            <a:pPr>
              <a:defRPr sz="1700" b="0">
                <a:solidFill>
                  <a:srgbClr val="273743"/>
                </a:solidFill>
              </a:defRPr>
            </a:pPr>
            <a:r>
              <a:t>• Separate booked revenue, cash settlement FX and contribution</a:t>
            </a:r>
          </a:p>
          <a:p>
            <a:pPr>
              <a:defRPr sz="1700" b="0">
                <a:solidFill>
                  <a:srgbClr val="273743"/>
                </a:solidFill>
              </a:defRPr>
            </a:pPr>
            <a:r>
              <a:t>• Limit initial SKUs; monitor restocked share and inventory accuracy</a:t>
            </a:r>
          </a:p>
          <a:p>
            <a:pPr>
              <a:defRPr sz="1700" b="0">
                <a:solidFill>
                  <a:srgbClr val="273743"/>
                </a:solidFill>
              </a:defRPr>
            </a:pPr>
            <a:r>
              <a:t>• Defer or reconfigure if downside is not acceptable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46B8E"/>
                </a:solidFill>
              </a:defRPr>
            </a:pPr>
            <a:r>
              <a:t>MERIDIAN PARTS  •  Synthetic case  •  Source vintage 27 Sep 2026     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46B8E"/>
                </a:solidFill>
              </a:defRPr>
            </a:pPr>
            <a:r>
              <a:t>SOURCES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</a:defRPr>
            </a:pPr>
            <a:r>
              <a:t>Appendix: model boundaries and reproducibility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73743"/>
                </a:solidFill>
              </a:defRPr>
            </a:pPr>
            <a:r>
              <a:t>Synthetic inputs: two order extracts, revisions/corrections, returns, unit costs, hub options and policy from the frozen source room.</a:t>
            </a:r>
          </a:p>
          <a:p>
            <a:pPr>
              <a:defRPr sz="1500" b="0">
                <a:solidFill>
                  <a:srgbClr val="273743"/>
                </a:solidFill>
              </a:defRPr>
            </a:pPr>
          </a:p>
          <a:p>
            <a:pPr>
              <a:defRPr sz="1500" b="0">
                <a:solidFill>
                  <a:srgbClr val="273743"/>
                </a:solidFill>
              </a:defRPr>
            </a:pPr>
            <a:r>
              <a:t>Public inputs: archived World Bank population and GDP per capita; ECB daily reference rates, all with original URLs, timestamps and hashes in sources/source-register.json.</a:t>
            </a:r>
          </a:p>
          <a:p>
            <a:pPr>
              <a:defRPr sz="1500" b="0">
                <a:solidFill>
                  <a:srgbClr val="273743"/>
                </a:solidFill>
              </a:defRPr>
            </a:pPr>
          </a:p>
          <a:p>
            <a:pPr>
              <a:defRPr sz="1500" b="0">
                <a:solidFill>
                  <a:srgbClr val="273743"/>
                </a:solidFill>
              </a:defRPr>
            </a:pPr>
            <a:r>
              <a:t>Reproduce: python3 analysis/build.py. Workbook contains 72 monthly rows, six country totals, 24 PLN/CZK monthly FX means, market context, all hub scenarios and all feasible alternatives.</a:t>
            </a:r>
          </a:p>
          <a:p>
            <a:pPr>
              <a:defRPr sz="1500" b="0">
                <a:solidFill>
                  <a:srgbClr val="273743"/>
                </a:solidFill>
              </a:defRPr>
            </a:pPr>
          </a:p>
          <a:p>
            <a:pPr>
              <a:defRPr sz="1500" b="0">
                <a:solidFill>
                  <a:srgbClr val="273743"/>
                </a:solidFill>
              </a:defRPr>
            </a:pPr>
            <a:r>
              <a:t>Limitations: one synthetic baseline year; monthly ECB reference translation is not transaction FX; no causal hub results, probability distributions, ramp, discounting, synergy, tax, working capital or site/legal quotes. Historical public series may reflect later revisions.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46B8E"/>
                </a:solidFill>
              </a:defRPr>
            </a:pPr>
            <a:r>
              <a:t>MERIDIAN PARTS  •  Synthetic case  •  Source vintage 27 Sep 2026                                          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