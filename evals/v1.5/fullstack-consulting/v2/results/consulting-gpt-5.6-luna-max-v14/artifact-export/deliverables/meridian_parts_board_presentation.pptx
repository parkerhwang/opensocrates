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F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000" b="1">
                <a:solidFill>
                  <a:srgbClr val="A4E4DE"/>
                </a:solidFill>
                <a:latin typeface="Aptos"/>
              </a:defRPr>
            </a:pPr>
            <a:r>
              <a:t>MERIDIAN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332720" cy="1188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European service-hub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07208"/>
            <a:ext cx="9875520" cy="6858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Recommendation: staged CZE+ESP envelope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794760"/>
            <a:ext cx="10058400" cy="7315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400" b="0">
                <a:solidFill>
                  <a:srgbClr val="E0ECF1"/>
                </a:solidFill>
                <a:latin typeface="Aptos"/>
              </a:defRPr>
            </a:pPr>
            <a:r>
              <a:t>€198,099 base annual contribution after recurring cost | €225,000 capex | 5 FTE | 1.14y simple payback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859536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Board presentation | 2025 shipped sales and returns known through 31 Jan 2026 | Synthetic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82512"/>
            <a:ext cx="4572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600" b="1">
                <a:solidFill>
                  <a:srgbClr val="12304A"/>
                </a:solidFill>
                <a:latin typeface="Aptos"/>
              </a:defRPr>
            </a:pPr>
            <a:r>
              <a:t>Board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Aptos"/>
              </a:defRPr>
            </a:pPr>
            <a:r>
              <a:t>Approve the CZE+ESP envelope, launch Czechia first, and gate Spain on pilot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0F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2057400" cy="841248"/>
          </a:xfrm>
          <a:prstGeom prst="roundRect">
            <a:avLst/>
          </a:prstGeom>
          <a:solidFill>
            <a:srgbClr val="E0F2F0"/>
          </a:solidFill>
          <a:ln>
            <a:solidFill>
              <a:srgbClr val="E0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08176"/>
            <a:ext cx="1837943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850" b="1">
                <a:solidFill>
                  <a:srgbClr val="6B7280"/>
                </a:solidFill>
                <a:latin typeface="Aptos"/>
              </a:defRPr>
            </a:pPr>
            <a:r>
              <a:t>BASE INCREMENT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627631"/>
            <a:ext cx="1837943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000" b="1">
                <a:solidFill>
                  <a:srgbClr val="12304A"/>
                </a:solidFill>
                <a:latin typeface="Aptos"/>
              </a:defRPr>
            </a:pPr>
            <a:r>
              <a:t>€198,099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298448"/>
            <a:ext cx="2057400" cy="841248"/>
          </a:xfrm>
          <a:prstGeom prst="roundRect">
            <a:avLst/>
          </a:prstGeom>
          <a:solidFill>
            <a:srgbClr val="FFF2E1"/>
          </a:solidFill>
          <a:ln>
            <a:solidFill>
              <a:srgbClr val="FF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8648" y="1408176"/>
            <a:ext cx="1837943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850" b="1">
                <a:solidFill>
                  <a:srgbClr val="6B7280"/>
                </a:solidFill>
                <a:latin typeface="Aptos"/>
              </a:defRPr>
            </a:pPr>
            <a:r>
              <a:t>DEFINED 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1627631"/>
            <a:ext cx="1837943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000" b="1">
                <a:solidFill>
                  <a:srgbClr val="12304A"/>
                </a:solidFill>
                <a:latin typeface="Aptos"/>
              </a:defRPr>
            </a:pPr>
            <a:r>
              <a:t>€32,180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298448"/>
            <a:ext cx="2057400" cy="841248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8" y="1408176"/>
            <a:ext cx="1837943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850" b="1">
                <a:solidFill>
                  <a:srgbClr val="6B7280"/>
                </a:solidFill>
                <a:latin typeface="Aptos"/>
              </a:defRPr>
            </a:pPr>
            <a:r>
              <a:t>CAPEX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1627631"/>
            <a:ext cx="1837943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000" b="1">
                <a:solidFill>
                  <a:srgbClr val="12304A"/>
                </a:solidFill>
                <a:latin typeface="Aptos"/>
              </a:defRPr>
            </a:pPr>
            <a:r>
              <a:t>€225,000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1298448"/>
            <a:ext cx="2057400" cy="841248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1408176"/>
            <a:ext cx="1837943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850" b="1">
                <a:solidFill>
                  <a:srgbClr val="6B7280"/>
                </a:solidFill>
                <a:latin typeface="Aptos"/>
              </a:defRPr>
            </a:pPr>
            <a:r>
              <a:t>FTE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1627631"/>
            <a:ext cx="1837943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000" b="1">
                <a:solidFill>
                  <a:srgbClr val="12304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298448"/>
            <a:ext cx="2057400" cy="841248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1408176"/>
            <a:ext cx="1837943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850" b="1">
                <a:solidFill>
                  <a:srgbClr val="6B7280"/>
                </a:solidFill>
                <a:latin typeface="Aptos"/>
              </a:defRPr>
            </a:pPr>
            <a:r>
              <a:t>PAYBACK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1627631"/>
            <a:ext cx="1837943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000" b="1">
                <a:solidFill>
                  <a:srgbClr val="12304A"/>
                </a:solidFill>
                <a:latin typeface="Aptos"/>
              </a:defRPr>
            </a:pPr>
            <a:r>
              <a:t>1.14y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487168"/>
            <a:ext cx="5029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400" b="1">
                <a:solidFill>
                  <a:srgbClr val="0F7B78"/>
                </a:solidFill>
                <a:latin typeface="Aptos"/>
              </a:defRPr>
            </a:pPr>
            <a:r>
              <a:t>Decision rule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16352"/>
            <a:ext cx="5120640" cy="2377440"/>
          </a:xfrm>
          <a:prstGeom prst="rect">
            <a:avLst/>
          </a:prstGeom>
          <a:noFill/>
        </p:spPr>
        <p:txBody>
          <a:bodyPr wrap="square" lIns="50800" rIns="381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4323D"/>
                </a:solidFill>
                <a:latin typeface="Aptos"/>
              </a:defRPr>
            </a:pPr>
            <a:r>
              <a:t>• Stay inside the explicit €450k capex, seven-FTE and two-hub limits.</a:t>
            </a:r>
          </a:p>
          <a:p>
            <a:pPr>
              <a:spcAft>
                <a:spcPts val="800"/>
              </a:spcAft>
              <a:defRPr sz="1400">
                <a:solidFill>
                  <a:srgbClr val="24323D"/>
                </a:solidFill>
                <a:latin typeface="Aptos"/>
              </a:defRPr>
            </a:pPr>
            <a:r>
              <a:t>• Require positive annual increment in the policy's defined joint stress.</a:t>
            </a:r>
          </a:p>
          <a:p>
            <a:pPr>
              <a:spcAft>
                <a:spcPts val="800"/>
              </a:spcAft>
              <a:defRPr sz="1400">
                <a:solidFill>
                  <a:srgbClr val="24323D"/>
                </a:solidFill>
                <a:latin typeface="Aptos"/>
              </a:defRPr>
            </a:pPr>
            <a:r>
              <a:t>• Among survivors, rank by base annual incremental contribution.</a:t>
            </a:r>
          </a:p>
          <a:p>
            <a:pPr>
              <a:spcAft>
                <a:spcPts val="800"/>
              </a:spcAft>
              <a:defRPr sz="1400">
                <a:solidFill>
                  <a:srgbClr val="24323D"/>
                </a:solidFill>
                <a:latin typeface="Aptos"/>
              </a:defRPr>
            </a:pPr>
            <a:r>
              <a:t>• Treat this risk screen as an assumed planning preference, not a board-supplied fact.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487168"/>
            <a:ext cx="5029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400" b="1">
                <a:solidFill>
                  <a:srgbClr val="0F7B78"/>
                </a:solidFill>
                <a:latin typeface="Aptos"/>
              </a:defRPr>
            </a:pPr>
            <a:r>
              <a:t>What the choice gives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816352"/>
            <a:ext cx="5074920" cy="2468880"/>
          </a:xfrm>
          <a:prstGeom prst="rect">
            <a:avLst/>
          </a:prstGeom>
          <a:noFill/>
        </p:spPr>
        <p:txBody>
          <a:bodyPr wrap="square" lIns="50800" rIns="3810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4323D"/>
                </a:solidFill>
                <a:latin typeface="Aptos"/>
              </a:defRPr>
            </a:pPr>
            <a:r>
              <a:t>• NLD+ESP has the strongest stress result (€107.6k) but gives up €31.2k of base contribution, needs €45k more capex and one more FTE.</a:t>
            </a:r>
          </a:p>
          <a:p>
            <a:pPr>
              <a:spcAft>
                <a:spcPts val="800"/>
              </a:spcAft>
              <a:defRPr sz="1350">
                <a:solidFill>
                  <a:srgbClr val="24323D"/>
                </a:solidFill>
                <a:latin typeface="Aptos"/>
              </a:defRPr>
            </a:pPr>
            <a:r>
              <a:t>• POL+ESP is dominated by CZE+ESP on low/base/high/stress and needs more resources.</a:t>
            </a:r>
          </a:p>
          <a:p>
            <a:pPr>
              <a:spcAft>
                <a:spcPts val="800"/>
              </a:spcAft>
              <a:defRPr sz="1350">
                <a:solidFill>
                  <a:srgbClr val="24323D"/>
                </a:solidFill>
                <a:latin typeface="Aptos"/>
              </a:defRPr>
            </a:pPr>
            <a:r>
              <a:t>• If demand evidence is weak, defer the second release; the model is not a causal forecast.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CA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74536"/>
            <a:ext cx="987552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Aptos"/>
              </a:defRPr>
            </a:pPr>
            <a:r>
              <a:t>Scenario policy, hub-options.csv, reconciled 2025 country totals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74536"/>
            <a:ext cx="68580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600" b="1">
                <a:solidFill>
                  <a:srgbClr val="12304A"/>
                </a:solidFill>
                <a:latin typeface="Aptos"/>
              </a:defRPr>
            </a:pPr>
            <a:r>
              <a:t>2025 baseline: ESP and CZE carry the largest contribution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Aptos"/>
              </a:defRPr>
            </a:pPr>
            <a:r>
              <a:t>Computed from eligible orders after revision, status, test, cutoff and return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0F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4983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705612"/>
                <a:gridCol w="705612"/>
                <a:gridCol w="705612"/>
                <a:gridCol w="705612"/>
                <a:gridCol w="705612"/>
                <a:gridCol w="705612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Market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Units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Net sales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Contribution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Margin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Returned units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DEU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209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12,153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€625,792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€262,366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41.9%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73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FRA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209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11,880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€632,231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€276,271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43.7%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144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NLD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209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12,576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€697,733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€315,644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45.2%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144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POL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209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13,163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€761,890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€356,494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46.8%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180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CZE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209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13,733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€815,307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€397,335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48.7%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288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ESP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209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13,931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€850,839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€421,900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49.6%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252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ountry_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34440"/>
            <a:ext cx="5806440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4407408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400" b="1">
                <a:solidFill>
                  <a:srgbClr val="0F7B78"/>
                </a:solidFill>
                <a:latin typeface="Aptos"/>
              </a:defRPr>
            </a:pPr>
            <a:r>
              <a:t>Accounting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36592"/>
            <a:ext cx="10972800" cy="1143000"/>
          </a:xfrm>
          <a:prstGeom prst="rect">
            <a:avLst/>
          </a:prstGeom>
          <a:noFill/>
        </p:spPr>
        <p:txBody>
          <a:bodyPr wrap="square" lIns="50800" rIns="3810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24323D"/>
                </a:solidFill>
                <a:latin typeface="Aptos"/>
              </a:defRPr>
            </a:pPr>
            <a:r>
              <a:t>• 1,328 raw order rows → 1,297 unique order IDs → 1,254 eligible 2025 shipped orders; 18 higher revisions replace prior rows.</a:t>
            </a:r>
          </a:p>
          <a:p>
            <a:pPr>
              <a:spcAft>
                <a:spcPts val="800"/>
              </a:spcAft>
              <a:defRPr sz="1150">
                <a:solidFill>
                  <a:srgbClr val="24323D"/>
                </a:solidFill>
                <a:latin typeface="Aptos"/>
              </a:defRPr>
            </a:pPr>
            <a:r>
              <a:t>• 241 usable linked returns after deduplication and the inclusive 31 Jan 2026 cutoff; orphan R-ORPHAN is quarantined.</a:t>
            </a:r>
          </a:p>
          <a:p>
            <a:pPr>
              <a:spcAft>
                <a:spcPts val="800"/>
              </a:spcAft>
              <a:defRPr sz="1150">
                <a:solidFill>
                  <a:srgbClr val="24323D"/>
                </a:solidFill>
                <a:latin typeface="Aptos"/>
              </a:defRPr>
            </a:pPr>
            <a:r>
              <a:t>• 12 valid zero-price eligible shipments are retained. Monthly totals reconcile to country totals to the cent.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CA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74536"/>
            <a:ext cx="987552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Aptos"/>
              </a:defRPr>
            </a:pPr>
            <a:r>
              <a:t>Synthetic client exports and data-dictionary.md; no raw-row order counting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74536"/>
            <a:ext cx="68580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600" b="1">
                <a:solidFill>
                  <a:srgbClr val="12304A"/>
                </a:solidFill>
                <a:latin typeface="Aptos"/>
              </a:defRPr>
            </a:pPr>
            <a:r>
              <a:t>Context informs capacity — it does not prove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Aptos"/>
              </a:defRPr>
            </a:pPr>
            <a:r>
              <a:t>Archived official World Bank observations, preserved with retrieval vintage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0F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et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5577840" cy="2651760"/>
          </a:xfrm>
          <a:prstGeom prst="rect">
            <a:avLst/>
          </a:prstGeom>
        </p:spPr>
      </p:pic>
      <p:pic>
        <p:nvPicPr>
          <p:cNvPr id="6" name="Picture 5" descr="fx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539496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4041648"/>
            <a:ext cx="53035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400" b="1">
                <a:solidFill>
                  <a:srgbClr val="0F7B78"/>
                </a:solidFill>
                <a:latin typeface="Aptos"/>
              </a:defRPr>
            </a:pPr>
            <a:r>
              <a:t>Market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5303520" cy="1600200"/>
          </a:xfrm>
          <a:prstGeom prst="rect">
            <a:avLst/>
          </a:prstGeom>
          <a:noFill/>
        </p:spPr>
        <p:txBody>
          <a:bodyPr wrap="square" lIns="50800" rIns="3810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4323D"/>
                </a:solidFill>
                <a:latin typeface="Aptos"/>
              </a:defRPr>
            </a:pPr>
            <a:r>
              <a:t>• NLD and DEU have the highest 2024 GDP per capita in current US$.</a:t>
            </a:r>
          </a:p>
          <a:p>
            <a:pPr>
              <a:spcAft>
                <a:spcPts val="800"/>
              </a:spcAft>
              <a:defRPr sz="1250">
                <a:solidFill>
                  <a:srgbClr val="24323D"/>
                </a:solidFill>
                <a:latin typeface="Aptos"/>
              </a:defRPr>
            </a:pPr>
            <a:r>
              <a:t>• Population grows 2022–24 in DEU, FRA, NLD, CZE and ESP; POL declines.</a:t>
            </a:r>
          </a:p>
          <a:p>
            <a:pPr>
              <a:spcAft>
                <a:spcPts val="800"/>
              </a:spcAft>
              <a:defRPr sz="1250">
                <a:solidFill>
                  <a:srgbClr val="24323D"/>
                </a:solidFill>
                <a:latin typeface="Aptos"/>
              </a:defRPr>
            </a:pPr>
            <a:r>
              <a:t>• Population/GDP are context only, not direct replacement-assembly demand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4041648"/>
            <a:ext cx="53035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400" b="1">
                <a:solidFill>
                  <a:srgbClr val="0F7B78"/>
                </a:solidFill>
                <a:latin typeface="Aptos"/>
              </a:defRPr>
            </a:pPr>
            <a:r>
              <a:t>FX discipline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389120"/>
            <a:ext cx="5212080" cy="1600200"/>
          </a:xfrm>
          <a:prstGeom prst="rect">
            <a:avLst/>
          </a:prstGeom>
          <a:noFill/>
        </p:spPr>
        <p:txBody>
          <a:bodyPr wrap="square" lIns="50800" rIns="3810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4323D"/>
                </a:solidFill>
                <a:latin typeface="Aptos"/>
              </a:defRPr>
            </a:pPr>
            <a:r>
              <a:t>• PLN/CZK use the original sale-month ECB mean of published business-day reference observations.</a:t>
            </a:r>
          </a:p>
          <a:p>
            <a:pPr>
              <a:spcAft>
                <a:spcPts val="800"/>
              </a:spcAft>
              <a:defRPr sz="1250">
                <a:solidFill>
                  <a:srgbClr val="24323D"/>
                </a:solidFill>
                <a:latin typeface="Aptos"/>
              </a:defRPr>
            </a:pPr>
            <a:r>
              <a:t>• Quotes are local currency units per EUR; EUR is 1.0. No inversion or today's rate.</a:t>
            </a:r>
          </a:p>
          <a:p>
            <a:pPr>
              <a:spcAft>
                <a:spcPts val="800"/>
              </a:spcAft>
              <a:defRPr sz="1250">
                <a:solidFill>
                  <a:srgbClr val="24323D"/>
                </a:solidFill>
                <a:latin typeface="Aptos"/>
              </a:defRPr>
            </a:pPr>
            <a:r>
              <a:t>• FX is an analytical translation assumption, not an actual transaction hedge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CA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74536"/>
            <a:ext cx="987552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Aptos"/>
              </a:defRPr>
            </a:pPr>
            <a:r>
              <a:t>Archived World Bank population.json / gdp-per-capita.json; ECB ecb-history.zip and extracted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74536"/>
            <a:ext cx="68580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600" b="1">
                <a:solidFill>
                  <a:srgbClr val="12304A"/>
                </a:solidFill>
                <a:latin typeface="Aptos"/>
              </a:defRPr>
            </a:pPr>
            <a:r>
              <a:t>CZE+ESP leads the feasible base case and remains positive in defined stress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Aptos"/>
              </a:defRPr>
            </a:pPr>
            <a:r>
              <a:t>Annual incremental contribution after recurring fixed cost; capex is year-zero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0F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enario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492240" cy="4937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23760" y="1508760"/>
          <a:ext cx="4160517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005839"/>
                <a:gridCol w="1005839"/>
                <a:gridCol w="1005839"/>
              </a:tblGrid>
              <a:tr h="38290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Option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Stress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Capex / FTE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CZE+ESP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€198,099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€32,180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€225,000 / 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POL+ESP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€186,329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€29,264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€240,000 / 6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POL+CZE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€178,995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€-78,570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€205,000 / 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NLD+ESP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€166,931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€107,630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€270,000 / 6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NLD+CZE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€159,598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€-203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€235,000 / 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NLD+POL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€147,828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€-3,119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€250,000 / 6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FRA+ESP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€129,849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€73,105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€340,000 / 7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69480" y="4800600"/>
            <a:ext cx="40233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400" b="1">
                <a:solidFill>
                  <a:srgbClr val="0F7B78"/>
                </a:solidFill>
                <a:latin typeface="Aptos"/>
              </a:defRPr>
            </a:pPr>
            <a:r>
              <a:t>Scenario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96912" y="5138928"/>
            <a:ext cx="4023360" cy="960120"/>
          </a:xfrm>
          <a:prstGeom prst="rect">
            <a:avLst/>
          </a:prstGeom>
          <a:noFill/>
        </p:spPr>
        <p:txBody>
          <a:bodyPr wrap="square" lIns="50800" rIns="38100">
            <a:spAutoFit/>
          </a:bodyPr>
          <a:lstStyle/>
          <a:p>
            <a:pPr>
              <a:spcAft>
                <a:spcPts val="800"/>
              </a:spcAft>
              <a:defRPr sz="1130">
                <a:solidFill>
                  <a:srgbClr val="24323D"/>
                </a:solidFill>
                <a:latin typeface="Aptos"/>
              </a:defRPr>
            </a:pPr>
            <a:r>
              <a:t>• Low/base/high uplift: 10% / 25% / 40%.</a:t>
            </a:r>
          </a:p>
          <a:p>
            <a:pPr>
              <a:spcAft>
                <a:spcPts val="800"/>
              </a:spcAft>
              <a:defRPr sz="1130">
                <a:solidFill>
                  <a:srgbClr val="24323D"/>
                </a:solidFill>
                <a:latin typeface="Aptos"/>
              </a:defRPr>
            </a:pPr>
            <a:r>
              <a:t>• Stress: 3% gross-sales refund shock; 10% net-sales shock in PLN/CZK; base 25% uplift.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CA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74536"/>
            <a:ext cx="987552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Aptos"/>
              </a:defRPr>
            </a:pPr>
            <a:r>
              <a:t>scenario-policy.md; pairs add country figures/capex/FTE without synergy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74536"/>
            <a:ext cx="68580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600" b="1">
                <a:solidFill>
                  <a:srgbClr val="12304A"/>
                </a:solidFill>
                <a:latin typeface="Aptos"/>
              </a:defRPr>
            </a:pPr>
            <a:r>
              <a:t>The decision is conditional, not certain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Aptos"/>
              </a:defRPr>
            </a:pPr>
            <a:r>
              <a:t>The largest uncertainty is the assumed hub uplift and timing of first-year realization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0F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53035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500" b="1">
                <a:solidFill>
                  <a:srgbClr val="0F7B78"/>
                </a:solidFill>
                <a:latin typeface="Aptos"/>
              </a:defRPr>
            </a:pPr>
            <a:r>
              <a:t>Flip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627632"/>
            <a:ext cx="5166360" cy="3108960"/>
          </a:xfrm>
          <a:prstGeom prst="rect">
            <a:avLst/>
          </a:prstGeom>
          <a:noFill/>
        </p:spPr>
        <p:txBody>
          <a:bodyPr wrap="square" lIns="50800" rIns="381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4323D"/>
                </a:solidFill>
                <a:latin typeface="Aptos"/>
              </a:defRPr>
            </a:pPr>
            <a:r>
              <a:t>• If normal volume uplift for CZE+ESP falls below ~2.7%, the steady-state formula falls below break-even before stress.</a:t>
            </a:r>
          </a:p>
          <a:p>
            <a:pPr>
              <a:spcAft>
                <a:spcPts val="800"/>
              </a:spcAft>
              <a:defRPr sz="1400">
                <a:solidFill>
                  <a:srgbClr val="24323D"/>
                </a:solidFill>
                <a:latin typeface="Aptos"/>
              </a:defRPr>
            </a:pPr>
            <a:r>
              <a:t>• If the board values stress resilience over base value, NLD+ESP becomes the preferred alternative.</a:t>
            </a:r>
          </a:p>
          <a:p>
            <a:pPr>
              <a:spcAft>
                <a:spcPts val="800"/>
              </a:spcAft>
              <a:defRPr sz="1400">
                <a:solidFill>
                  <a:srgbClr val="24323D"/>
                </a:solidFill>
                <a:latin typeface="Aptos"/>
              </a:defRPr>
            </a:pPr>
            <a:r>
              <a:t>• If quotes exceed €225k capex or five FTE, re-screen rather than waive the policy cap.</a:t>
            </a:r>
          </a:p>
          <a:p>
            <a:pPr>
              <a:spcAft>
                <a:spcPts val="800"/>
              </a:spcAft>
              <a:defRPr sz="1400">
                <a:solidFill>
                  <a:srgbClr val="24323D"/>
                </a:solidFill>
                <a:latin typeface="Aptos"/>
              </a:defRPr>
            </a:pPr>
            <a:r>
              <a:t>• If pilot uplift is below the 10% low case for two consecutive months, hold Spain.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261872"/>
            <a:ext cx="5120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500" b="1">
                <a:solidFill>
                  <a:srgbClr val="0F7B78"/>
                </a:solidFill>
                <a:latin typeface="Aptos"/>
              </a:defRPr>
            </a:pPr>
            <a:r>
              <a:t>Alternative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664208"/>
          <a:ext cx="50749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249679"/>
                <a:gridCol w="1249679"/>
                <a:gridCol w="1249679"/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Stress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Capex/FTE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CZE+ESP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€198,099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€32,180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€225k / 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NLD+ESP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€166,931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€107,630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€270k / 6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POL+ESP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€186,329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€29,264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€240k / 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DEFER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€0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€0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€0 / 0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82512" y="4187952"/>
            <a:ext cx="49377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500" b="1">
                <a:solidFill>
                  <a:srgbClr val="0F7B78"/>
                </a:solidFill>
                <a:latin typeface="Aptos"/>
              </a:defRPr>
            </a:pPr>
            <a:r>
              <a:t>Accepted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553712"/>
            <a:ext cx="4800600" cy="1417320"/>
          </a:xfrm>
          <a:prstGeom prst="rect">
            <a:avLst/>
          </a:prstGeom>
          <a:noFill/>
        </p:spPr>
        <p:txBody>
          <a:bodyPr wrap="square" lIns="50800" rIns="38100">
            <a:spAutoFit/>
          </a:bodyPr>
          <a:lstStyle/>
          <a:p>
            <a:pPr>
              <a:spcAft>
                <a:spcPts val="800"/>
              </a:spcAft>
              <a:defRPr sz="1260">
                <a:solidFill>
                  <a:srgbClr val="24323D"/>
                </a:solidFill>
                <a:latin typeface="Aptos"/>
              </a:defRPr>
            </a:pPr>
            <a:r>
              <a:t>• CZE+ESP gives up €75.5k of stress contribution versus NLD+ESP while using €45k less capex and one fewer FTE.</a:t>
            </a:r>
          </a:p>
          <a:p>
            <a:pPr>
              <a:spcAft>
                <a:spcPts val="800"/>
              </a:spcAft>
              <a:defRPr sz="1260">
                <a:solidFill>
                  <a:srgbClr val="24323D"/>
                </a:solidFill>
                <a:latin typeface="Aptos"/>
              </a:defRPr>
            </a:pPr>
            <a:r>
              <a:t>• Payback is undiscounted and steady-state; first-year ramp and working capital are not modelled.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CA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74536"/>
            <a:ext cx="987552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Aptos"/>
              </a:defRPr>
            </a:pPr>
            <a:r>
              <a:t>Trade-off screen is an explicit planning assumption; outputs are computed, not causal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74536"/>
            <a:ext cx="68580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600" b="1">
                <a:solidFill>
                  <a:srgbClr val="12304A"/>
                </a:solidFill>
                <a:latin typeface="Aptos"/>
              </a:defRPr>
            </a:pPr>
            <a:r>
              <a:t>90-day plan: prepare both, launch CZE, gate ESP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Aptos"/>
              </a:defRPr>
            </a:pPr>
            <a:r>
              <a:t>Owners, dependencies and measurable release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0F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1018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459480"/>
                <a:gridCol w="3459480"/>
                <a:gridCol w="3459480"/>
              </a:tblGrid>
              <a:tr h="493776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Days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Gate</a:t>
                      </a:r>
                    </a:p>
                  </a:txBody>
                  <a:tcPr marL="50800" marR="50800" marT="25400" marB="25400">
                    <a:solidFill>
                      <a:srgbClr val="1230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0–15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COO / Finance / PMO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Baseline, quotes, leads, WMS/returns data ownership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Pilot charter; no irreversible commitments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16–30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Ops / Proc / HR / IT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Sites, labour plan, inventory/returns design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Within €225k/5 FTE envelope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31–60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Leads / WMS / Quality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Hire/train, configure, dry-run, control tests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CZE: ≥95% test-order accuracy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61–90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COO / country leads / Finance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CZE soft launch; 30-day KPI review; Spain release pack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30" b="0">
                          <a:solidFill>
                            <a:srgbClr val="24323D"/>
                          </a:solidFill>
                          <a:latin typeface="Aptos"/>
                        </a:defRPr>
                      </a:pPr>
                      <a:r>
                        <a:t>≥10% uplift signal, OTIF ≥95%, returns ≤+3pp</a:t>
                      </a:r>
                    </a:p>
                  </a:txBody>
                  <a:tcPr marL="50800" marR="50800" marT="25400" marB="25400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069080"/>
            <a:ext cx="53035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400" b="1">
                <a:solidFill>
                  <a:srgbClr val="0F7B78"/>
                </a:solidFill>
                <a:latin typeface="Aptos"/>
              </a:defRPr>
            </a:pPr>
            <a:r>
              <a:t>KPI scoreboard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07408"/>
            <a:ext cx="5212080" cy="1417320"/>
          </a:xfrm>
          <a:prstGeom prst="rect">
            <a:avLst/>
          </a:prstGeom>
          <a:noFill/>
        </p:spPr>
        <p:txBody>
          <a:bodyPr wrap="square" lIns="50800" rIns="3810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4323D"/>
                </a:solidFill>
                <a:latin typeface="Aptos"/>
              </a:defRPr>
            </a:pPr>
            <a:r>
              <a:t>• Incremental shipped units versus 2025 run-rate; weekly/monthly.</a:t>
            </a:r>
          </a:p>
          <a:p>
            <a:pPr>
              <a:spcAft>
                <a:spcPts val="800"/>
              </a:spcAft>
              <a:defRPr sz="1250">
                <a:solidFill>
                  <a:srgbClr val="24323D"/>
                </a:solidFill>
                <a:latin typeface="Aptos"/>
              </a:defRPr>
            </a:pPr>
            <a:r>
              <a:t>• OTIF/service time; returned units ÷ shipped units; realized savings per unit.</a:t>
            </a:r>
          </a:p>
          <a:p>
            <a:pPr>
              <a:spcAft>
                <a:spcPts val="800"/>
              </a:spcAft>
              <a:defRPr sz="1250">
                <a:solidFill>
                  <a:srgbClr val="24323D"/>
                </a:solidFill>
                <a:latin typeface="Aptos"/>
              </a:defRPr>
            </a:pPr>
            <a:r>
              <a:t>• Contribution after fixed cost; capex/FTE readiness; zero orphan joins.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069080"/>
            <a:ext cx="53035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400" b="1">
                <a:solidFill>
                  <a:srgbClr val="0F7B78"/>
                </a:solidFill>
                <a:latin typeface="Aptos"/>
              </a:defRPr>
            </a:pPr>
            <a:r>
              <a:t>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4407408"/>
            <a:ext cx="5166360" cy="1417320"/>
          </a:xfrm>
          <a:prstGeom prst="rect">
            <a:avLst/>
          </a:prstGeom>
          <a:noFill/>
        </p:spPr>
        <p:txBody>
          <a:bodyPr wrap="square" lIns="50800" rIns="3810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4323D"/>
                </a:solidFill>
                <a:latin typeface="Aptos"/>
              </a:defRPr>
            </a:pPr>
            <a:r>
              <a:t>• Vendor quotes and legal/tax review before lease signature.</a:t>
            </a:r>
          </a:p>
          <a:p>
            <a:pPr>
              <a:spcAft>
                <a:spcPts val="800"/>
              </a:spcAft>
              <a:defRPr sz="1250">
                <a:solidFill>
                  <a:srgbClr val="24323D"/>
                </a:solidFill>
                <a:latin typeface="Aptos"/>
              </a:defRPr>
            </a:pPr>
            <a:r>
              <a:t>• Reliable event timestamps and WMS/returns data feeds before KPI gate.</a:t>
            </a:r>
          </a:p>
          <a:p>
            <a:pPr>
              <a:spcAft>
                <a:spcPts val="800"/>
              </a:spcAft>
              <a:defRPr sz="1250">
                <a:solidFill>
                  <a:srgbClr val="24323D"/>
                </a:solidFill>
                <a:latin typeface="Aptos"/>
              </a:defRPr>
            </a:pPr>
            <a:r>
              <a:t>• First-year cash/stock model before irreversible expansion.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CA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74536"/>
            <a:ext cx="987552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Aptos"/>
              </a:defRPr>
            </a:pPr>
            <a:r>
              <a:t>Management thresholds are proposed operating gates, not observed 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74536"/>
            <a:ext cx="68580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2600" b="1">
                <a:solidFill>
                  <a:srgbClr val="12304A"/>
                </a:solidFill>
                <a:latin typeface="Aptos"/>
              </a:defRPr>
            </a:pPr>
            <a:r>
              <a:t>Board ask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Aptos"/>
              </a:defRPr>
            </a:pPr>
            <a:r>
              <a:t>Approve a staged option with a visible stop condition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0F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4864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600" b="1">
                <a:solidFill>
                  <a:srgbClr val="0F7B78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627632"/>
            <a:ext cx="5303520" cy="1920240"/>
          </a:xfrm>
          <a:prstGeom prst="rect">
            <a:avLst/>
          </a:prstGeom>
          <a:noFill/>
        </p:spPr>
        <p:txBody>
          <a:bodyPr wrap="square" lIns="50800" rIns="3810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323D"/>
                </a:solidFill>
                <a:latin typeface="Aptos"/>
              </a:defRPr>
            </a:pPr>
            <a:r>
              <a:t>• CZE+ESP planning envelope: €225k capex / 5 FTE / up to two hubs.</a:t>
            </a:r>
          </a:p>
          <a:p>
            <a:pPr>
              <a:spcAft>
                <a:spcPts val="800"/>
              </a:spcAft>
              <a:defRPr sz="1500">
                <a:solidFill>
                  <a:srgbClr val="24323D"/>
                </a:solidFill>
                <a:latin typeface="Aptos"/>
              </a:defRPr>
            </a:pPr>
            <a:r>
              <a:t>• CZE first; Spain released only after Gate 3 KPI evidence.</a:t>
            </a:r>
          </a:p>
          <a:p>
            <a:pPr>
              <a:spcAft>
                <a:spcPts val="800"/>
              </a:spcAft>
              <a:defRPr sz="1500">
                <a:solidFill>
                  <a:srgbClr val="24323D"/>
                </a:solidFill>
                <a:latin typeface="Aptos"/>
              </a:defRPr>
            </a:pPr>
            <a:r>
              <a:t>• Finance/COO to reprice the model after vendor quotes and pilot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51206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600" b="1">
                <a:solidFill>
                  <a:srgbClr val="0F7B78"/>
                </a:solidFill>
                <a:latin typeface="Aptos"/>
              </a:defRPr>
            </a:pPr>
            <a:r>
              <a:t>Do not over-read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627632"/>
            <a:ext cx="5074920" cy="1920240"/>
          </a:xfrm>
          <a:prstGeom prst="rect">
            <a:avLst/>
          </a:prstGeom>
          <a:noFill/>
        </p:spPr>
        <p:txBody>
          <a:bodyPr wrap="square" lIns="50800" rIns="3810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323D"/>
                </a:solidFill>
                <a:latin typeface="Aptos"/>
              </a:defRPr>
            </a:pPr>
            <a:r>
              <a:t>• Uplift, costs and savings are synthetic policy assumptions.</a:t>
            </a:r>
          </a:p>
          <a:p>
            <a:pPr>
              <a:spcAft>
                <a:spcPts val="800"/>
              </a:spcAft>
              <a:defRPr sz="1500">
                <a:solidFill>
                  <a:srgbClr val="24323D"/>
                </a:solidFill>
                <a:latin typeface="Aptos"/>
              </a:defRPr>
            </a:pPr>
            <a:r>
              <a:t>• Population/GDP are public context, not demand proof.</a:t>
            </a:r>
          </a:p>
          <a:p>
            <a:pPr>
              <a:spcAft>
                <a:spcPts val="800"/>
              </a:spcAft>
              <a:defRPr sz="1500">
                <a:solidFill>
                  <a:srgbClr val="24323D"/>
                </a:solidFill>
                <a:latin typeface="Aptos"/>
              </a:defRPr>
            </a:pPr>
            <a:r>
              <a:t>• Payback is simple/undiscounted and excludes ramp, working capital and tax.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69080"/>
            <a:ext cx="10835640" cy="1051560"/>
          </a:xfrm>
          <a:prstGeom prst="roundRect">
            <a:avLst/>
          </a:prstGeom>
          <a:solidFill>
            <a:srgbClr val="E0F2F0"/>
          </a:solidFill>
          <a:ln>
            <a:solidFill>
              <a:srgbClr val="0F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79392"/>
            <a:ext cx="103327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700" b="1">
                <a:solidFill>
                  <a:srgbClr val="12304A"/>
                </a:solidFill>
                <a:latin typeface="Aptos"/>
              </a:defRPr>
            </a:pPr>
            <a:r>
              <a:t>Decision in one sentence: fund the CZE+ESP envelope because it is the strongest feasible base-and-low case that stays positive in the defined stress, but make Spain earn release through the 90-day KPI 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687568"/>
            <a:ext cx="10972800" cy="38404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950" b="0">
                <a:solidFill>
                  <a:srgbClr val="6B7280"/>
                </a:solidFill>
                <a:latin typeface="Aptos"/>
              </a:defRPr>
            </a:pPr>
            <a:r>
              <a:t>Evidence: frozen source room at http://127.0.0.1:55463/; archived official World Bank/ECB files with hashes; synthetic client exports and policy. Reproduce: python analysis/reproduce.py.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CA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574536"/>
            <a:ext cx="987552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Aptos"/>
              </a:defRPr>
            </a:pPr>
            <a:r>
              <a:t>Report, workbook, metrics.json, source register and raw evidence delivered alongside this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574536"/>
            <a:ext cx="68580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