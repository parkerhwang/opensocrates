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4E79"/>
        </a:solidFill>
        <a:effectLst/>
      </p:bgPr>
    </p:bg>
    <p:spTree>
      <p:nvGrpSpPr>
        <p:cNvPr id="1" name=""/>
        <p:cNvGrpSpPr/>
        <p:nvPr/>
      </p:nvGrpSpPr>
      <p:grpSpPr/>
      <p:sp>
        <p:nvSpPr>
          <p:cNvPr id="2" name="TextBox 1"/>
          <p:cNvSpPr txBox="1"/>
          <p:nvPr/>
        </p:nvSpPr>
        <p:spPr>
          <a:xfrm>
            <a:off x="731520" y="1005840"/>
            <a:ext cx="10789920" cy="1188720"/>
          </a:xfrm>
          <a:prstGeom prst="rect">
            <a:avLst/>
          </a:prstGeom>
          <a:noFill/>
        </p:spPr>
        <p:txBody>
          <a:bodyPr wrap="square">
            <a:spAutoFit/>
          </a:bodyPr>
          <a:lstStyle/>
          <a:p>
            <a:pPr algn="l"/>
            <a:r>
              <a:rPr sz="3000" b="1">
                <a:solidFill>
                  <a:srgbClr val="FFFFFF"/>
                </a:solidFill>
                <a:latin typeface="Aptos"/>
              </a:rPr>
              <a:t>Meridian Parts</a:t>
            </a:r>
          </a:p>
        </p:txBody>
      </p:sp>
      <p:sp>
        <p:nvSpPr>
          <p:cNvPr id="3" name="TextBox 2"/>
          <p:cNvSpPr txBox="1"/>
          <p:nvPr/>
        </p:nvSpPr>
        <p:spPr>
          <a:xfrm>
            <a:off x="777240" y="2286000"/>
            <a:ext cx="10241280" cy="914400"/>
          </a:xfrm>
          <a:prstGeom prst="rect">
            <a:avLst/>
          </a:prstGeom>
          <a:noFill/>
        </p:spPr>
        <p:txBody>
          <a:bodyPr wrap="square">
            <a:spAutoFit/>
          </a:bodyPr>
          <a:lstStyle/>
          <a:p>
            <a:pPr algn="l"/>
            <a:r>
              <a:rPr sz="2700" b="1">
                <a:solidFill>
                  <a:srgbClr val="DCEBF5"/>
                </a:solidFill>
                <a:latin typeface="Aptos"/>
              </a:rPr>
              <a:t>European service-hub expansion</a:t>
            </a:r>
          </a:p>
        </p:txBody>
      </p:sp>
      <p:sp>
        <p:nvSpPr>
          <p:cNvPr id="4" name="TextBox 3"/>
          <p:cNvSpPr txBox="1"/>
          <p:nvPr/>
        </p:nvSpPr>
        <p:spPr>
          <a:xfrm>
            <a:off x="777240" y="3429000"/>
            <a:ext cx="9966960" cy="640080"/>
          </a:xfrm>
          <a:prstGeom prst="rect">
            <a:avLst/>
          </a:prstGeom>
          <a:noFill/>
        </p:spPr>
        <p:txBody>
          <a:bodyPr wrap="square">
            <a:spAutoFit/>
          </a:bodyPr>
          <a:lstStyle/>
          <a:p>
            <a:pPr algn="l"/>
            <a:r>
              <a:rPr sz="1500" b="0">
                <a:solidFill>
                  <a:srgbClr val="FFFFFF"/>
                </a:solidFill>
                <a:latin typeface="Aptos"/>
              </a:rPr>
              <a:t>Board decision | 2025 shipped-sales evidence + staged 90-day validation</a:t>
            </a:r>
          </a:p>
        </p:txBody>
      </p:sp>
      <p:sp>
        <p:nvSpPr>
          <p:cNvPr id="5" name="TextBox 4"/>
          <p:cNvSpPr txBox="1"/>
          <p:nvPr/>
        </p:nvSpPr>
        <p:spPr>
          <a:xfrm>
            <a:off x="777240" y="6080760"/>
            <a:ext cx="10515600" cy="320040"/>
          </a:xfrm>
          <a:prstGeom prst="rect">
            <a:avLst/>
          </a:prstGeom>
          <a:noFill/>
        </p:spPr>
        <p:txBody>
          <a:bodyPr wrap="square">
            <a:spAutoFit/>
          </a:bodyPr>
          <a:lstStyle/>
          <a:p>
            <a:pPr algn="l"/>
            <a:r>
              <a:rPr sz="900" b="0">
                <a:solidFill>
                  <a:srgbClr val="D2E1EB"/>
                </a:solidFill>
                <a:latin typeface="Aptos"/>
              </a:rPr>
              <a:t>Synthetic client inputs; archived public World Bank and ECB snapshots; 27 Sep 2026 vintage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55680" cy="502920"/>
          </a:xfrm>
          <a:prstGeom prst="rect">
            <a:avLst/>
          </a:prstGeom>
          <a:noFill/>
        </p:spPr>
        <p:txBody>
          <a:bodyPr wrap="square">
            <a:spAutoFit/>
          </a:bodyPr>
          <a:lstStyle/>
          <a:p>
            <a:pPr algn="l"/>
            <a:r>
              <a:rPr sz="2500" b="1">
                <a:solidFill>
                  <a:srgbClr val="1F4E79"/>
                </a:solidFill>
                <a:latin typeface="Aptos"/>
              </a:rPr>
              <a:t>Decision in one sentence</a:t>
            </a:r>
          </a:p>
        </p:txBody>
      </p:sp>
      <p:sp>
        <p:nvSpPr>
          <p:cNvPr id="3" name="TextBox 2"/>
          <p:cNvSpPr txBox="1"/>
          <p:nvPr/>
        </p:nvSpPr>
        <p:spPr>
          <a:xfrm>
            <a:off x="530352" y="868680"/>
            <a:ext cx="11064240" cy="320040"/>
          </a:xfrm>
          <a:prstGeom prst="rect">
            <a:avLst/>
          </a:prstGeom>
          <a:noFill/>
        </p:spPr>
        <p:txBody>
          <a:bodyPr wrap="square">
            <a:spAutoFit/>
          </a:bodyPr>
          <a:lstStyle/>
          <a:p>
            <a:pPr algn="l"/>
            <a:r>
              <a:rPr sz="1000" b="0">
                <a:solidFill>
                  <a:srgbClr val="5F5F5F"/>
                </a:solidFill>
                <a:latin typeface="Aptos"/>
              </a:rPr>
              <a:t>Fund a staged pilot, with explicit stop gates</a:t>
            </a:r>
          </a:p>
        </p:txBody>
      </p:sp>
      <p:sp>
        <p:nvSpPr>
          <p:cNvPr id="4" name="TextBox 3"/>
          <p:cNvSpPr txBox="1"/>
          <p:nvPr/>
        </p:nvSpPr>
        <p:spPr>
          <a:xfrm>
            <a:off x="640080" y="1417320"/>
            <a:ext cx="10972800" cy="594360"/>
          </a:xfrm>
          <a:prstGeom prst="rect">
            <a:avLst/>
          </a:prstGeom>
          <a:noFill/>
        </p:spPr>
        <p:txBody>
          <a:bodyPr wrap="square">
            <a:spAutoFit/>
          </a:bodyPr>
          <a:lstStyle/>
          <a:p>
            <a:pPr algn="l"/>
            <a:r>
              <a:rPr sz="2400" b="1">
                <a:solidFill>
                  <a:srgbClr val="1F7850"/>
                </a:solidFill>
                <a:latin typeface="Aptos"/>
              </a:rPr>
              <a:t>Recommend: CZE + ESP | EUR 225,000 capex | 5 FTE</a:t>
            </a:r>
          </a:p>
        </p:txBody>
      </p:sp>
      <p:sp>
        <p:nvSpPr>
          <p:cNvPr id="5" name="TextBox 4"/>
          <p:cNvSpPr txBox="1"/>
          <p:nvPr/>
        </p:nvSpPr>
        <p:spPr>
          <a:xfrm>
            <a:off x="685800" y="2240280"/>
            <a:ext cx="5120640" cy="1463040"/>
          </a:xfrm>
          <a:prstGeom prst="rect">
            <a:avLst/>
          </a:prstGeom>
          <a:noFill/>
        </p:spPr>
        <p:txBody>
          <a:bodyPr wrap="square">
            <a:spAutoFit/>
          </a:bodyPr>
          <a:lstStyle/>
          <a:p>
            <a:pPr algn="l"/>
            <a:r>
              <a:rPr sz="1800" b="1">
                <a:solidFill>
                  <a:srgbClr val="2D2D2D"/>
                </a:solidFill>
                <a:latin typeface="Aptos"/>
              </a:rPr>
              <a:t>Base policy case
EUR 198,099 annual incremental contribution
1.14-year simple payback</a:t>
            </a:r>
          </a:p>
        </p:txBody>
      </p:sp>
      <p:sp>
        <p:nvSpPr>
          <p:cNvPr id="6" name="TextBox 5"/>
          <p:cNvSpPr txBox="1"/>
          <p:nvPr/>
        </p:nvSpPr>
        <p:spPr>
          <a:xfrm>
            <a:off x="6126480" y="2240280"/>
            <a:ext cx="5212080" cy="1463040"/>
          </a:xfrm>
          <a:prstGeom prst="rect">
            <a:avLst/>
          </a:prstGeom>
          <a:noFill/>
        </p:spPr>
        <p:txBody>
          <a:bodyPr wrap="square">
            <a:spAutoFit/>
          </a:bodyPr>
          <a:lstStyle/>
          <a:p>
            <a:pPr algn="l"/>
            <a:r>
              <a:rPr sz="1800" b="1">
                <a:solidFill>
                  <a:srgbClr val="2D2D2D"/>
                </a:solidFill>
                <a:latin typeface="Aptos"/>
              </a:rPr>
              <a:t>Decision guard
90-day validation of uplift, savings, returns, FX and budget
No claim of causal certainty</a:t>
            </a:r>
          </a:p>
        </p:txBody>
      </p:sp>
      <p:sp>
        <p:nvSpPr>
          <p:cNvPr id="7" name="TextBox 6"/>
          <p:cNvSpPr txBox="1"/>
          <p:nvPr/>
        </p:nvSpPr>
        <p:spPr>
          <a:xfrm>
            <a:off x="685800" y="4800600"/>
            <a:ext cx="10515600" cy="731520"/>
          </a:xfrm>
          <a:prstGeom prst="rect">
            <a:avLst/>
          </a:prstGeom>
          <a:noFill/>
        </p:spPr>
        <p:txBody>
          <a:bodyPr wrap="square">
            <a:spAutoFit/>
          </a:bodyPr>
          <a:lstStyle/>
          <a:p>
            <a:pPr algn="l"/>
            <a:r>
              <a:rPr sz="1600" b="1">
                <a:solidFill>
                  <a:srgbClr val="AA3C32"/>
                </a:solidFill>
                <a:latin typeface="Aptos"/>
              </a:rPr>
              <a:t>Defer all hubs remains the correct action if measured evidence cannot support the planning case or hard constraints are breached.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55680" cy="502920"/>
          </a:xfrm>
          <a:prstGeom prst="rect">
            <a:avLst/>
          </a:prstGeom>
          <a:noFill/>
        </p:spPr>
        <p:txBody>
          <a:bodyPr wrap="square">
            <a:spAutoFit/>
          </a:bodyPr>
          <a:lstStyle/>
          <a:p>
            <a:pPr algn="l"/>
            <a:r>
              <a:rPr sz="2500" b="1">
                <a:solidFill>
                  <a:srgbClr val="1F4E79"/>
                </a:solidFill>
                <a:latin typeface="Aptos"/>
              </a:rPr>
              <a:t>What the 2025 base says</a:t>
            </a:r>
          </a:p>
        </p:txBody>
      </p:sp>
      <p:sp>
        <p:nvSpPr>
          <p:cNvPr id="3" name="TextBox 2"/>
          <p:cNvSpPr txBox="1"/>
          <p:nvPr/>
        </p:nvSpPr>
        <p:spPr>
          <a:xfrm>
            <a:off x="530352" y="868680"/>
            <a:ext cx="11064240" cy="320040"/>
          </a:xfrm>
          <a:prstGeom prst="rect">
            <a:avLst/>
          </a:prstGeom>
          <a:noFill/>
        </p:spPr>
        <p:txBody>
          <a:bodyPr wrap="square">
            <a:spAutoFit/>
          </a:bodyPr>
          <a:lstStyle/>
          <a:p>
            <a:pPr algn="l"/>
            <a:r>
              <a:rPr sz="1000" b="0">
                <a:solidFill>
                  <a:srgbClr val="5F5F5F"/>
                </a:solidFill>
                <a:latin typeface="Aptos"/>
              </a:rPr>
              <a:t>Contribution, not booked revenue or cash</a:t>
            </a:r>
          </a:p>
        </p:txBody>
      </p:sp>
      <p:graphicFrame>
        <p:nvGraphicFramePr>
          <p:cNvPr id="4" name="Table 3"/>
          <p:cNvGraphicFramePr>
            <a:graphicFrameLocks noGrp="1"/>
          </p:cNvGraphicFramePr>
          <p:nvPr/>
        </p:nvGraphicFramePr>
        <p:xfrm>
          <a:off x="685800" y="1417320"/>
          <a:ext cx="10789920" cy="4114800"/>
        </p:xfrm>
        <a:graphic>
          <a:graphicData uri="http://schemas.openxmlformats.org/drawingml/2006/table">
            <a:tbl>
              <a:tblPr firstRow="1" bandRow="1">
                <a:tableStyleId>{5C22544A-7EE6-4342-B048-85BDC9FD1C3A}</a:tableStyleId>
              </a:tblPr>
              <a:tblGrid>
                <a:gridCol w="2157984"/>
                <a:gridCol w="2157984"/>
                <a:gridCol w="2157984"/>
                <a:gridCol w="2157984"/>
                <a:gridCol w="2157984"/>
              </a:tblGrid>
              <a:tr h="587828">
                <a:tc>
                  <a:txBody>
                    <a:bodyPr/>
                    <a:lstStyle/>
                    <a:p>
                      <a:pPr algn="l">
                        <a:defRPr sz="1100" b="1">
                          <a:solidFill>
                            <a:srgbClr val="FFFFFF"/>
                          </a:solidFill>
                          <a:latin typeface="Aptos"/>
                        </a:defRPr>
                      </a:pPr>
                      <a:r>
                        <a:t>Market</a:t>
                      </a:r>
                    </a:p>
                  </a:txBody>
                  <a:tcPr>
                    <a:solidFill>
                      <a:srgbClr val="1F4E79"/>
                    </a:solidFill>
                  </a:tcPr>
                </a:tc>
                <a:tc>
                  <a:txBody>
                    <a:bodyPr/>
                    <a:lstStyle/>
                    <a:p>
                      <a:pPr algn="r">
                        <a:defRPr sz="1100" b="1">
                          <a:solidFill>
                            <a:srgbClr val="FFFFFF"/>
                          </a:solidFill>
                          <a:latin typeface="Aptos"/>
                        </a:defRPr>
                      </a:pPr>
                      <a:r>
                        <a:t>Net sales</a:t>
                      </a:r>
                    </a:p>
                  </a:txBody>
                  <a:tcPr>
                    <a:solidFill>
                      <a:srgbClr val="1F4E79"/>
                    </a:solidFill>
                  </a:tcPr>
                </a:tc>
                <a:tc>
                  <a:txBody>
                    <a:bodyPr/>
                    <a:lstStyle/>
                    <a:p>
                      <a:pPr algn="r">
                        <a:defRPr sz="1100" b="1">
                          <a:solidFill>
                            <a:srgbClr val="FFFFFF"/>
                          </a:solidFill>
                          <a:latin typeface="Aptos"/>
                        </a:defRPr>
                      </a:pPr>
                      <a:r>
                        <a:t>Contribution</a:t>
                      </a:r>
                    </a:p>
                  </a:txBody>
                  <a:tcPr>
                    <a:solidFill>
                      <a:srgbClr val="1F4E79"/>
                    </a:solidFill>
                  </a:tcPr>
                </a:tc>
                <a:tc>
                  <a:txBody>
                    <a:bodyPr/>
                    <a:lstStyle/>
                    <a:p>
                      <a:pPr algn="r">
                        <a:defRPr sz="1100" b="1">
                          <a:solidFill>
                            <a:srgbClr val="FFFFFF"/>
                          </a:solidFill>
                          <a:latin typeface="Aptos"/>
                        </a:defRPr>
                      </a:pPr>
                      <a:r>
                        <a:t>Margin</a:t>
                      </a:r>
                    </a:p>
                  </a:txBody>
                  <a:tcPr>
                    <a:solidFill>
                      <a:srgbClr val="1F4E79"/>
                    </a:solidFill>
                  </a:tcPr>
                </a:tc>
                <a:tc>
                  <a:txBody>
                    <a:bodyPr/>
                    <a:lstStyle/>
                    <a:p>
                      <a:pPr algn="r">
                        <a:defRPr sz="1100" b="1">
                          <a:solidFill>
                            <a:srgbClr val="FFFFFF"/>
                          </a:solidFill>
                          <a:latin typeface="Aptos"/>
                        </a:defRPr>
                      </a:pPr>
                      <a:r>
                        <a:t>Units</a:t>
                      </a:r>
                    </a:p>
                  </a:txBody>
                  <a:tcPr>
                    <a:solidFill>
                      <a:srgbClr val="1F4E79"/>
                    </a:solidFill>
                  </a:tcPr>
                </a:tc>
              </a:tr>
              <a:tr h="587828">
                <a:tc>
                  <a:txBody>
                    <a:bodyPr/>
                    <a:lstStyle/>
                    <a:p>
                      <a:pPr algn="l">
                        <a:defRPr sz="1100" b="0">
                          <a:solidFill>
                            <a:srgbClr val="2D2D2D"/>
                          </a:solidFill>
                          <a:latin typeface="Aptos"/>
                        </a:defRPr>
                      </a:pPr>
                      <a:r>
                        <a:t>Spain</a:t>
                      </a:r>
                    </a:p>
                  </a:txBody>
                  <a:tcPr>
                    <a:solidFill>
                      <a:srgbClr val="FFFFFF"/>
                    </a:solidFill>
                  </a:tcPr>
                </a:tc>
                <a:tc>
                  <a:txBody>
                    <a:bodyPr/>
                    <a:lstStyle/>
                    <a:p>
                      <a:pPr algn="r">
                        <a:defRPr sz="1100" b="0">
                          <a:solidFill>
                            <a:srgbClr val="2D2D2D"/>
                          </a:solidFill>
                          <a:latin typeface="Aptos"/>
                        </a:defRPr>
                      </a:pPr>
                      <a:r>
                        <a:t>EUR 850,839</a:t>
                      </a:r>
                    </a:p>
                  </a:txBody>
                  <a:tcPr>
                    <a:solidFill>
                      <a:srgbClr val="FFFFFF"/>
                    </a:solidFill>
                  </a:tcPr>
                </a:tc>
                <a:tc>
                  <a:txBody>
                    <a:bodyPr/>
                    <a:lstStyle/>
                    <a:p>
                      <a:pPr algn="r">
                        <a:defRPr sz="1100" b="0">
                          <a:solidFill>
                            <a:srgbClr val="2D2D2D"/>
                          </a:solidFill>
                          <a:latin typeface="Aptos"/>
                        </a:defRPr>
                      </a:pPr>
                      <a:r>
                        <a:t>EUR 421,900</a:t>
                      </a:r>
                    </a:p>
                  </a:txBody>
                  <a:tcPr>
                    <a:solidFill>
                      <a:srgbClr val="FFFFFF"/>
                    </a:solidFill>
                  </a:tcPr>
                </a:tc>
                <a:tc>
                  <a:txBody>
                    <a:bodyPr/>
                    <a:lstStyle/>
                    <a:p>
                      <a:pPr algn="r">
                        <a:defRPr sz="1100" b="0">
                          <a:solidFill>
                            <a:srgbClr val="2D2D2D"/>
                          </a:solidFill>
                          <a:latin typeface="Aptos"/>
                        </a:defRPr>
                      </a:pPr>
                      <a:r>
                        <a:t>49.6%</a:t>
                      </a:r>
                    </a:p>
                  </a:txBody>
                  <a:tcPr>
                    <a:solidFill>
                      <a:srgbClr val="FFFFFF"/>
                    </a:solidFill>
                  </a:tcPr>
                </a:tc>
                <a:tc>
                  <a:txBody>
                    <a:bodyPr/>
                    <a:lstStyle/>
                    <a:p>
                      <a:pPr algn="r">
                        <a:defRPr sz="1100" b="0">
                          <a:solidFill>
                            <a:srgbClr val="2D2D2D"/>
                          </a:solidFill>
                          <a:latin typeface="Aptos"/>
                        </a:defRPr>
                      </a:pPr>
                      <a:r>
                        <a:t>13,931</a:t>
                      </a:r>
                    </a:p>
                  </a:txBody>
                  <a:tcPr>
                    <a:solidFill>
                      <a:srgbClr val="FFFFFF"/>
                    </a:solidFill>
                  </a:tcPr>
                </a:tc>
              </a:tr>
              <a:tr h="587828">
                <a:tc>
                  <a:txBody>
                    <a:bodyPr/>
                    <a:lstStyle/>
                    <a:p>
                      <a:pPr algn="l">
                        <a:defRPr sz="1100" b="0">
                          <a:solidFill>
                            <a:srgbClr val="2D2D2D"/>
                          </a:solidFill>
                          <a:latin typeface="Aptos"/>
                        </a:defRPr>
                      </a:pPr>
                      <a:r>
                        <a:t>Czechia</a:t>
                      </a:r>
                    </a:p>
                  </a:txBody>
                  <a:tcPr>
                    <a:solidFill>
                      <a:srgbClr val="F5F9FC"/>
                    </a:solidFill>
                  </a:tcPr>
                </a:tc>
                <a:tc>
                  <a:txBody>
                    <a:bodyPr/>
                    <a:lstStyle/>
                    <a:p>
                      <a:pPr algn="r">
                        <a:defRPr sz="1100" b="0">
                          <a:solidFill>
                            <a:srgbClr val="2D2D2D"/>
                          </a:solidFill>
                          <a:latin typeface="Aptos"/>
                        </a:defRPr>
                      </a:pPr>
                      <a:r>
                        <a:t>EUR 815,307</a:t>
                      </a:r>
                    </a:p>
                  </a:txBody>
                  <a:tcPr>
                    <a:solidFill>
                      <a:srgbClr val="F5F9FC"/>
                    </a:solidFill>
                  </a:tcPr>
                </a:tc>
                <a:tc>
                  <a:txBody>
                    <a:bodyPr/>
                    <a:lstStyle/>
                    <a:p>
                      <a:pPr algn="r">
                        <a:defRPr sz="1100" b="0">
                          <a:solidFill>
                            <a:srgbClr val="2D2D2D"/>
                          </a:solidFill>
                          <a:latin typeface="Aptos"/>
                        </a:defRPr>
                      </a:pPr>
                      <a:r>
                        <a:t>EUR 397,335</a:t>
                      </a:r>
                    </a:p>
                  </a:txBody>
                  <a:tcPr>
                    <a:solidFill>
                      <a:srgbClr val="F5F9FC"/>
                    </a:solidFill>
                  </a:tcPr>
                </a:tc>
                <a:tc>
                  <a:txBody>
                    <a:bodyPr/>
                    <a:lstStyle/>
                    <a:p>
                      <a:pPr algn="r">
                        <a:defRPr sz="1100" b="0">
                          <a:solidFill>
                            <a:srgbClr val="2D2D2D"/>
                          </a:solidFill>
                          <a:latin typeface="Aptos"/>
                        </a:defRPr>
                      </a:pPr>
                      <a:r>
                        <a:t>48.7%</a:t>
                      </a:r>
                    </a:p>
                  </a:txBody>
                  <a:tcPr>
                    <a:solidFill>
                      <a:srgbClr val="F5F9FC"/>
                    </a:solidFill>
                  </a:tcPr>
                </a:tc>
                <a:tc>
                  <a:txBody>
                    <a:bodyPr/>
                    <a:lstStyle/>
                    <a:p>
                      <a:pPr algn="r">
                        <a:defRPr sz="1100" b="0">
                          <a:solidFill>
                            <a:srgbClr val="2D2D2D"/>
                          </a:solidFill>
                          <a:latin typeface="Aptos"/>
                        </a:defRPr>
                      </a:pPr>
                      <a:r>
                        <a:t>13,733</a:t>
                      </a:r>
                    </a:p>
                  </a:txBody>
                  <a:tcPr>
                    <a:solidFill>
                      <a:srgbClr val="F5F9FC"/>
                    </a:solidFill>
                  </a:tcPr>
                </a:tc>
              </a:tr>
              <a:tr h="587828">
                <a:tc>
                  <a:txBody>
                    <a:bodyPr/>
                    <a:lstStyle/>
                    <a:p>
                      <a:pPr algn="l">
                        <a:defRPr sz="1100" b="0">
                          <a:solidFill>
                            <a:srgbClr val="2D2D2D"/>
                          </a:solidFill>
                          <a:latin typeface="Aptos"/>
                        </a:defRPr>
                      </a:pPr>
                      <a:r>
                        <a:t>Poland</a:t>
                      </a:r>
                    </a:p>
                  </a:txBody>
                  <a:tcPr>
                    <a:solidFill>
                      <a:srgbClr val="FFFFFF"/>
                    </a:solidFill>
                  </a:tcPr>
                </a:tc>
                <a:tc>
                  <a:txBody>
                    <a:bodyPr/>
                    <a:lstStyle/>
                    <a:p>
                      <a:pPr algn="r">
                        <a:defRPr sz="1100" b="0">
                          <a:solidFill>
                            <a:srgbClr val="2D2D2D"/>
                          </a:solidFill>
                          <a:latin typeface="Aptos"/>
                        </a:defRPr>
                      </a:pPr>
                      <a:r>
                        <a:t>EUR 761,890</a:t>
                      </a:r>
                    </a:p>
                  </a:txBody>
                  <a:tcPr>
                    <a:solidFill>
                      <a:srgbClr val="FFFFFF"/>
                    </a:solidFill>
                  </a:tcPr>
                </a:tc>
                <a:tc>
                  <a:txBody>
                    <a:bodyPr/>
                    <a:lstStyle/>
                    <a:p>
                      <a:pPr algn="r">
                        <a:defRPr sz="1100" b="0">
                          <a:solidFill>
                            <a:srgbClr val="2D2D2D"/>
                          </a:solidFill>
                          <a:latin typeface="Aptos"/>
                        </a:defRPr>
                      </a:pPr>
                      <a:r>
                        <a:t>EUR 356,494</a:t>
                      </a:r>
                    </a:p>
                  </a:txBody>
                  <a:tcPr>
                    <a:solidFill>
                      <a:srgbClr val="FFFFFF"/>
                    </a:solidFill>
                  </a:tcPr>
                </a:tc>
                <a:tc>
                  <a:txBody>
                    <a:bodyPr/>
                    <a:lstStyle/>
                    <a:p>
                      <a:pPr algn="r">
                        <a:defRPr sz="1100" b="0">
                          <a:solidFill>
                            <a:srgbClr val="2D2D2D"/>
                          </a:solidFill>
                          <a:latin typeface="Aptos"/>
                        </a:defRPr>
                      </a:pPr>
                      <a:r>
                        <a:t>46.8%</a:t>
                      </a:r>
                    </a:p>
                  </a:txBody>
                  <a:tcPr>
                    <a:solidFill>
                      <a:srgbClr val="FFFFFF"/>
                    </a:solidFill>
                  </a:tcPr>
                </a:tc>
                <a:tc>
                  <a:txBody>
                    <a:bodyPr/>
                    <a:lstStyle/>
                    <a:p>
                      <a:pPr algn="r">
                        <a:defRPr sz="1100" b="0">
                          <a:solidFill>
                            <a:srgbClr val="2D2D2D"/>
                          </a:solidFill>
                          <a:latin typeface="Aptos"/>
                        </a:defRPr>
                      </a:pPr>
                      <a:r>
                        <a:t>13,163</a:t>
                      </a:r>
                    </a:p>
                  </a:txBody>
                  <a:tcPr>
                    <a:solidFill>
                      <a:srgbClr val="FFFFFF"/>
                    </a:solidFill>
                  </a:tcPr>
                </a:tc>
              </a:tr>
              <a:tr h="587828">
                <a:tc>
                  <a:txBody>
                    <a:bodyPr/>
                    <a:lstStyle/>
                    <a:p>
                      <a:pPr algn="l">
                        <a:defRPr sz="1100" b="0">
                          <a:solidFill>
                            <a:srgbClr val="2D2D2D"/>
                          </a:solidFill>
                          <a:latin typeface="Aptos"/>
                        </a:defRPr>
                      </a:pPr>
                      <a:r>
                        <a:t>Netherlands</a:t>
                      </a:r>
                    </a:p>
                  </a:txBody>
                  <a:tcPr>
                    <a:solidFill>
                      <a:srgbClr val="F5F9FC"/>
                    </a:solidFill>
                  </a:tcPr>
                </a:tc>
                <a:tc>
                  <a:txBody>
                    <a:bodyPr/>
                    <a:lstStyle/>
                    <a:p>
                      <a:pPr algn="r">
                        <a:defRPr sz="1100" b="0">
                          <a:solidFill>
                            <a:srgbClr val="2D2D2D"/>
                          </a:solidFill>
                          <a:latin typeface="Aptos"/>
                        </a:defRPr>
                      </a:pPr>
                      <a:r>
                        <a:t>EUR 697,733</a:t>
                      </a:r>
                    </a:p>
                  </a:txBody>
                  <a:tcPr>
                    <a:solidFill>
                      <a:srgbClr val="F5F9FC"/>
                    </a:solidFill>
                  </a:tcPr>
                </a:tc>
                <a:tc>
                  <a:txBody>
                    <a:bodyPr/>
                    <a:lstStyle/>
                    <a:p>
                      <a:pPr algn="r">
                        <a:defRPr sz="1100" b="0">
                          <a:solidFill>
                            <a:srgbClr val="2D2D2D"/>
                          </a:solidFill>
                          <a:latin typeface="Aptos"/>
                        </a:defRPr>
                      </a:pPr>
                      <a:r>
                        <a:t>EUR 315,644</a:t>
                      </a:r>
                    </a:p>
                  </a:txBody>
                  <a:tcPr>
                    <a:solidFill>
                      <a:srgbClr val="F5F9FC"/>
                    </a:solidFill>
                  </a:tcPr>
                </a:tc>
                <a:tc>
                  <a:txBody>
                    <a:bodyPr/>
                    <a:lstStyle/>
                    <a:p>
                      <a:pPr algn="r">
                        <a:defRPr sz="1100" b="0">
                          <a:solidFill>
                            <a:srgbClr val="2D2D2D"/>
                          </a:solidFill>
                          <a:latin typeface="Aptos"/>
                        </a:defRPr>
                      </a:pPr>
                      <a:r>
                        <a:t>45.2%</a:t>
                      </a:r>
                    </a:p>
                  </a:txBody>
                  <a:tcPr>
                    <a:solidFill>
                      <a:srgbClr val="F5F9FC"/>
                    </a:solidFill>
                  </a:tcPr>
                </a:tc>
                <a:tc>
                  <a:txBody>
                    <a:bodyPr/>
                    <a:lstStyle/>
                    <a:p>
                      <a:pPr algn="r">
                        <a:defRPr sz="1100" b="0">
                          <a:solidFill>
                            <a:srgbClr val="2D2D2D"/>
                          </a:solidFill>
                          <a:latin typeface="Aptos"/>
                        </a:defRPr>
                      </a:pPr>
                      <a:r>
                        <a:t>12,576</a:t>
                      </a:r>
                    </a:p>
                  </a:txBody>
                  <a:tcPr>
                    <a:solidFill>
                      <a:srgbClr val="F5F9FC"/>
                    </a:solidFill>
                  </a:tcPr>
                </a:tc>
              </a:tr>
              <a:tr h="587828">
                <a:tc>
                  <a:txBody>
                    <a:bodyPr/>
                    <a:lstStyle/>
                    <a:p>
                      <a:pPr algn="l">
                        <a:defRPr sz="1100" b="0">
                          <a:solidFill>
                            <a:srgbClr val="2D2D2D"/>
                          </a:solidFill>
                          <a:latin typeface="Aptos"/>
                        </a:defRPr>
                      </a:pPr>
                      <a:r>
                        <a:t>France</a:t>
                      </a:r>
                    </a:p>
                  </a:txBody>
                  <a:tcPr>
                    <a:solidFill>
                      <a:srgbClr val="FFFFFF"/>
                    </a:solidFill>
                  </a:tcPr>
                </a:tc>
                <a:tc>
                  <a:txBody>
                    <a:bodyPr/>
                    <a:lstStyle/>
                    <a:p>
                      <a:pPr algn="r">
                        <a:defRPr sz="1100" b="0">
                          <a:solidFill>
                            <a:srgbClr val="2D2D2D"/>
                          </a:solidFill>
                          <a:latin typeface="Aptos"/>
                        </a:defRPr>
                      </a:pPr>
                      <a:r>
                        <a:t>EUR 632,231</a:t>
                      </a:r>
                    </a:p>
                  </a:txBody>
                  <a:tcPr>
                    <a:solidFill>
                      <a:srgbClr val="FFFFFF"/>
                    </a:solidFill>
                  </a:tcPr>
                </a:tc>
                <a:tc>
                  <a:txBody>
                    <a:bodyPr/>
                    <a:lstStyle/>
                    <a:p>
                      <a:pPr algn="r">
                        <a:defRPr sz="1100" b="0">
                          <a:solidFill>
                            <a:srgbClr val="2D2D2D"/>
                          </a:solidFill>
                          <a:latin typeface="Aptos"/>
                        </a:defRPr>
                      </a:pPr>
                      <a:r>
                        <a:t>EUR 276,271</a:t>
                      </a:r>
                    </a:p>
                  </a:txBody>
                  <a:tcPr>
                    <a:solidFill>
                      <a:srgbClr val="FFFFFF"/>
                    </a:solidFill>
                  </a:tcPr>
                </a:tc>
                <a:tc>
                  <a:txBody>
                    <a:bodyPr/>
                    <a:lstStyle/>
                    <a:p>
                      <a:pPr algn="r">
                        <a:defRPr sz="1100" b="0">
                          <a:solidFill>
                            <a:srgbClr val="2D2D2D"/>
                          </a:solidFill>
                          <a:latin typeface="Aptos"/>
                        </a:defRPr>
                      </a:pPr>
                      <a:r>
                        <a:t>43.7%</a:t>
                      </a:r>
                    </a:p>
                  </a:txBody>
                  <a:tcPr>
                    <a:solidFill>
                      <a:srgbClr val="FFFFFF"/>
                    </a:solidFill>
                  </a:tcPr>
                </a:tc>
                <a:tc>
                  <a:txBody>
                    <a:bodyPr/>
                    <a:lstStyle/>
                    <a:p>
                      <a:pPr algn="r">
                        <a:defRPr sz="1100" b="0">
                          <a:solidFill>
                            <a:srgbClr val="2D2D2D"/>
                          </a:solidFill>
                          <a:latin typeface="Aptos"/>
                        </a:defRPr>
                      </a:pPr>
                      <a:r>
                        <a:t>11,880</a:t>
                      </a:r>
                    </a:p>
                  </a:txBody>
                  <a:tcPr>
                    <a:solidFill>
                      <a:srgbClr val="FFFFFF"/>
                    </a:solidFill>
                  </a:tcPr>
                </a:tc>
              </a:tr>
              <a:tr h="587832">
                <a:tc>
                  <a:txBody>
                    <a:bodyPr/>
                    <a:lstStyle/>
                    <a:p>
                      <a:pPr algn="l">
                        <a:defRPr sz="1100" b="0">
                          <a:solidFill>
                            <a:srgbClr val="2D2D2D"/>
                          </a:solidFill>
                          <a:latin typeface="Aptos"/>
                        </a:defRPr>
                      </a:pPr>
                      <a:r>
                        <a:t>Germany</a:t>
                      </a:r>
                    </a:p>
                  </a:txBody>
                  <a:tcPr>
                    <a:solidFill>
                      <a:srgbClr val="F5F9FC"/>
                    </a:solidFill>
                  </a:tcPr>
                </a:tc>
                <a:tc>
                  <a:txBody>
                    <a:bodyPr/>
                    <a:lstStyle/>
                    <a:p>
                      <a:pPr algn="r">
                        <a:defRPr sz="1100" b="0">
                          <a:solidFill>
                            <a:srgbClr val="2D2D2D"/>
                          </a:solidFill>
                          <a:latin typeface="Aptos"/>
                        </a:defRPr>
                      </a:pPr>
                      <a:r>
                        <a:t>EUR 625,792</a:t>
                      </a:r>
                    </a:p>
                  </a:txBody>
                  <a:tcPr>
                    <a:solidFill>
                      <a:srgbClr val="F5F9FC"/>
                    </a:solidFill>
                  </a:tcPr>
                </a:tc>
                <a:tc>
                  <a:txBody>
                    <a:bodyPr/>
                    <a:lstStyle/>
                    <a:p>
                      <a:pPr algn="r">
                        <a:defRPr sz="1100" b="0">
                          <a:solidFill>
                            <a:srgbClr val="2D2D2D"/>
                          </a:solidFill>
                          <a:latin typeface="Aptos"/>
                        </a:defRPr>
                      </a:pPr>
                      <a:r>
                        <a:t>EUR 262,366</a:t>
                      </a:r>
                    </a:p>
                  </a:txBody>
                  <a:tcPr>
                    <a:solidFill>
                      <a:srgbClr val="F5F9FC"/>
                    </a:solidFill>
                  </a:tcPr>
                </a:tc>
                <a:tc>
                  <a:txBody>
                    <a:bodyPr/>
                    <a:lstStyle/>
                    <a:p>
                      <a:pPr algn="r">
                        <a:defRPr sz="1100" b="0">
                          <a:solidFill>
                            <a:srgbClr val="2D2D2D"/>
                          </a:solidFill>
                          <a:latin typeface="Aptos"/>
                        </a:defRPr>
                      </a:pPr>
                      <a:r>
                        <a:t>41.9%</a:t>
                      </a:r>
                    </a:p>
                  </a:txBody>
                  <a:tcPr>
                    <a:solidFill>
                      <a:srgbClr val="F5F9FC"/>
                    </a:solidFill>
                  </a:tcPr>
                </a:tc>
                <a:tc>
                  <a:txBody>
                    <a:bodyPr/>
                    <a:lstStyle/>
                    <a:p>
                      <a:pPr algn="r">
                        <a:defRPr sz="1100" b="0">
                          <a:solidFill>
                            <a:srgbClr val="2D2D2D"/>
                          </a:solidFill>
                          <a:latin typeface="Aptos"/>
                        </a:defRPr>
                      </a:pPr>
                      <a:r>
                        <a:t>12,153</a:t>
                      </a:r>
                    </a:p>
                  </a:txBody>
                  <a:tcPr>
                    <a:solidFill>
                      <a:srgbClr val="F5F9FC"/>
                    </a:solidFill>
                  </a:tcPr>
                </a:tc>
              </a:tr>
            </a:tbl>
          </a:graphicData>
        </a:graphic>
      </p:graphicFrame>
      <p:sp>
        <p:nvSpPr>
          <p:cNvPr id="5" name="TextBox 4"/>
          <p:cNvSpPr txBox="1"/>
          <p:nvPr/>
        </p:nvSpPr>
        <p:spPr>
          <a:xfrm>
            <a:off x="731520" y="5806440"/>
            <a:ext cx="10515600" cy="411480"/>
          </a:xfrm>
          <a:prstGeom prst="rect">
            <a:avLst/>
          </a:prstGeom>
          <a:noFill/>
        </p:spPr>
        <p:txBody>
          <a:bodyPr wrap="square">
            <a:spAutoFit/>
          </a:bodyPr>
          <a:lstStyle/>
          <a:p>
            <a:pPr algn="l"/>
            <a:r>
              <a:rPr sz="1100" b="0">
                <a:solidFill>
                  <a:srgbClr val="2D2D2D"/>
                </a:solidFill>
                <a:latin typeface="Aptos"/>
              </a:rPr>
              <a:t>Larger EUR markets supply the operating base; POL/CZE add non-EUR translation exposure and require sale-month ECB rates.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55680" cy="502920"/>
          </a:xfrm>
          <a:prstGeom prst="rect">
            <a:avLst/>
          </a:prstGeom>
          <a:noFill/>
        </p:spPr>
        <p:txBody>
          <a:bodyPr wrap="square">
            <a:spAutoFit/>
          </a:bodyPr>
          <a:lstStyle/>
          <a:p>
            <a:pPr algn="l"/>
            <a:r>
              <a:rPr sz="2500" b="1">
                <a:solidFill>
                  <a:srgbClr val="1F4E79"/>
                </a:solidFill>
                <a:latin typeface="Aptos"/>
              </a:rPr>
              <a:t>The comparison is constrained and transparent</a:t>
            </a:r>
          </a:p>
        </p:txBody>
      </p:sp>
      <p:sp>
        <p:nvSpPr>
          <p:cNvPr id="3" name="TextBox 2"/>
          <p:cNvSpPr txBox="1"/>
          <p:nvPr/>
        </p:nvSpPr>
        <p:spPr>
          <a:xfrm>
            <a:off x="530352" y="868680"/>
            <a:ext cx="11064240" cy="320040"/>
          </a:xfrm>
          <a:prstGeom prst="rect">
            <a:avLst/>
          </a:prstGeom>
          <a:noFill/>
        </p:spPr>
        <p:txBody>
          <a:bodyPr wrap="square">
            <a:spAutoFit/>
          </a:bodyPr>
          <a:lstStyle/>
          <a:p>
            <a:pPr algn="l"/>
            <a:r>
              <a:rPr sz="1000" b="0">
                <a:solidFill>
                  <a:srgbClr val="5F5F5F"/>
                </a:solidFill>
                <a:latin typeface="Aptos"/>
              </a:rPr>
              <a:t>Hard limits: EUR450k capex, 7 FTE, max two hubs</a:t>
            </a:r>
          </a:p>
        </p:txBody>
      </p:sp>
      <p:graphicFrame>
        <p:nvGraphicFramePr>
          <p:cNvPr id="4" name="Table 3"/>
          <p:cNvGraphicFramePr>
            <a:graphicFrameLocks noGrp="1"/>
          </p:cNvGraphicFramePr>
          <p:nvPr/>
        </p:nvGraphicFramePr>
        <p:xfrm>
          <a:off x="502920" y="1234440"/>
          <a:ext cx="11155680" cy="4846320"/>
        </p:xfrm>
        <a:graphic>
          <a:graphicData uri="http://schemas.openxmlformats.org/drawingml/2006/table">
            <a:tbl>
              <a:tblPr firstRow="1" bandRow="1">
                <a:tableStyleId>{5C22544A-7EE6-4342-B048-85BDC9FD1C3A}</a:tableStyleId>
              </a:tblPr>
              <a:tblGrid>
                <a:gridCol w="2231136"/>
                <a:gridCol w="2231136"/>
                <a:gridCol w="2231136"/>
                <a:gridCol w="2231136"/>
                <a:gridCol w="2231136"/>
              </a:tblGrid>
              <a:tr h="538480">
                <a:tc>
                  <a:txBody>
                    <a:bodyPr/>
                    <a:lstStyle/>
                    <a:p>
                      <a:pPr algn="l">
                        <a:defRPr sz="900" b="1">
                          <a:solidFill>
                            <a:srgbClr val="FFFFFF"/>
                          </a:solidFill>
                          <a:latin typeface="Aptos"/>
                        </a:defRPr>
                      </a:pPr>
                      <a:r>
                        <a:t>Option</a:t>
                      </a:r>
                    </a:p>
                  </a:txBody>
                  <a:tcPr>
                    <a:solidFill>
                      <a:srgbClr val="1F4E79"/>
                    </a:solidFill>
                  </a:tcPr>
                </a:tc>
                <a:tc>
                  <a:txBody>
                    <a:bodyPr/>
                    <a:lstStyle/>
                    <a:p>
                      <a:pPr algn="r">
                        <a:defRPr sz="900" b="1">
                          <a:solidFill>
                            <a:srgbClr val="FFFFFF"/>
                          </a:solidFill>
                          <a:latin typeface="Aptos"/>
                        </a:defRPr>
                      </a:pPr>
                      <a:r>
                        <a:t>Low</a:t>
                      </a:r>
                    </a:p>
                  </a:txBody>
                  <a:tcPr>
                    <a:solidFill>
                      <a:srgbClr val="1F4E79"/>
                    </a:solidFill>
                  </a:tcPr>
                </a:tc>
                <a:tc>
                  <a:txBody>
                    <a:bodyPr/>
                    <a:lstStyle/>
                    <a:p>
                      <a:pPr algn="r">
                        <a:defRPr sz="900" b="1">
                          <a:solidFill>
                            <a:srgbClr val="FFFFFF"/>
                          </a:solidFill>
                          <a:latin typeface="Aptos"/>
                        </a:defRPr>
                      </a:pPr>
                      <a:r>
                        <a:t>Base</a:t>
                      </a:r>
                    </a:p>
                  </a:txBody>
                  <a:tcPr>
                    <a:solidFill>
                      <a:srgbClr val="1F4E79"/>
                    </a:solidFill>
                  </a:tcPr>
                </a:tc>
                <a:tc>
                  <a:txBody>
                    <a:bodyPr/>
                    <a:lstStyle/>
                    <a:p>
                      <a:pPr algn="r">
                        <a:defRPr sz="900" b="1">
                          <a:solidFill>
                            <a:srgbClr val="FFFFFF"/>
                          </a:solidFill>
                          <a:latin typeface="Aptos"/>
                        </a:defRPr>
                      </a:pPr>
                      <a:r>
                        <a:t>High</a:t>
                      </a:r>
                    </a:p>
                  </a:txBody>
                  <a:tcPr>
                    <a:solidFill>
                      <a:srgbClr val="1F4E79"/>
                    </a:solidFill>
                  </a:tcPr>
                </a:tc>
                <a:tc>
                  <a:txBody>
                    <a:bodyPr/>
                    <a:lstStyle/>
                    <a:p>
                      <a:pPr algn="r">
                        <a:defRPr sz="900" b="1">
                          <a:solidFill>
                            <a:srgbClr val="FFFFFF"/>
                          </a:solidFill>
                          <a:latin typeface="Aptos"/>
                        </a:defRPr>
                      </a:pPr>
                      <a:r>
                        <a:t>Stress</a:t>
                      </a:r>
                    </a:p>
                  </a:txBody>
                  <a:tcPr>
                    <a:solidFill>
                      <a:srgbClr val="1F4E79"/>
                    </a:solidFill>
                  </a:tcPr>
                </a:tc>
              </a:tr>
              <a:tr h="538480">
                <a:tc>
                  <a:txBody>
                    <a:bodyPr/>
                    <a:lstStyle/>
                    <a:p>
                      <a:pPr algn="l">
                        <a:defRPr sz="900" b="1">
                          <a:solidFill>
                            <a:srgbClr val="2D2D2D"/>
                          </a:solidFill>
                          <a:latin typeface="Aptos"/>
                        </a:defRPr>
                      </a:pPr>
                      <a:r>
                        <a:t>CZE+ESP</a:t>
                      </a:r>
                    </a:p>
                  </a:txBody>
                  <a:tcPr>
                    <a:solidFill>
                      <a:srgbClr val="EBF7EF"/>
                    </a:solidFill>
                  </a:tcPr>
                </a:tc>
                <a:tc>
                  <a:txBody>
                    <a:bodyPr/>
                    <a:lstStyle/>
                    <a:p>
                      <a:pPr algn="r">
                        <a:defRPr sz="900" b="0">
                          <a:solidFill>
                            <a:srgbClr val="2D2D2D"/>
                          </a:solidFill>
                          <a:latin typeface="Aptos"/>
                        </a:defRPr>
                      </a:pPr>
                      <a:r>
                        <a:t>EUR 64,619</a:t>
                      </a:r>
                    </a:p>
                  </a:txBody>
                  <a:tcPr>
                    <a:solidFill>
                      <a:srgbClr val="EBF7EF"/>
                    </a:solidFill>
                  </a:tcPr>
                </a:tc>
                <a:tc>
                  <a:txBody>
                    <a:bodyPr/>
                    <a:lstStyle/>
                    <a:p>
                      <a:pPr algn="r">
                        <a:defRPr sz="900" b="0">
                          <a:solidFill>
                            <a:srgbClr val="2D2D2D"/>
                          </a:solidFill>
                          <a:latin typeface="Aptos"/>
                        </a:defRPr>
                      </a:pPr>
                      <a:r>
                        <a:t>EUR 198,099</a:t>
                      </a:r>
                    </a:p>
                  </a:txBody>
                  <a:tcPr>
                    <a:solidFill>
                      <a:srgbClr val="EBF7EF"/>
                    </a:solidFill>
                  </a:tcPr>
                </a:tc>
                <a:tc>
                  <a:txBody>
                    <a:bodyPr/>
                    <a:lstStyle/>
                    <a:p>
                      <a:pPr algn="r">
                        <a:defRPr sz="900" b="0">
                          <a:solidFill>
                            <a:srgbClr val="2D2D2D"/>
                          </a:solidFill>
                          <a:latin typeface="Aptos"/>
                        </a:defRPr>
                      </a:pPr>
                      <a:r>
                        <a:t>EUR 331,580</a:t>
                      </a:r>
                    </a:p>
                  </a:txBody>
                  <a:tcPr>
                    <a:solidFill>
                      <a:srgbClr val="EBF7EF"/>
                    </a:solidFill>
                  </a:tcPr>
                </a:tc>
                <a:tc>
                  <a:txBody>
                    <a:bodyPr/>
                    <a:lstStyle/>
                    <a:p>
                      <a:pPr algn="r">
                        <a:defRPr sz="900" b="0">
                          <a:solidFill>
                            <a:srgbClr val="2D2D2D"/>
                          </a:solidFill>
                          <a:latin typeface="Aptos"/>
                        </a:defRPr>
                      </a:pPr>
                      <a:r>
                        <a:t>EUR 32,180</a:t>
                      </a:r>
                    </a:p>
                  </a:txBody>
                  <a:tcPr>
                    <a:solidFill>
                      <a:srgbClr val="EBF7EF"/>
                    </a:solidFill>
                  </a:tcPr>
                </a:tc>
              </a:tr>
              <a:tr h="538480">
                <a:tc>
                  <a:txBody>
                    <a:bodyPr/>
                    <a:lstStyle/>
                    <a:p>
                      <a:pPr algn="l">
                        <a:defRPr sz="900" b="0">
                          <a:solidFill>
                            <a:srgbClr val="2D2D2D"/>
                          </a:solidFill>
                          <a:latin typeface="Aptos"/>
                        </a:defRPr>
                      </a:pPr>
                      <a:r>
                        <a:t>POL+ESP</a:t>
                      </a:r>
                    </a:p>
                  </a:txBody>
                  <a:tcPr>
                    <a:solidFill>
                      <a:srgbClr val="F5F9FC"/>
                    </a:solidFill>
                  </a:tcPr>
                </a:tc>
                <a:tc>
                  <a:txBody>
                    <a:bodyPr/>
                    <a:lstStyle/>
                    <a:p>
                      <a:pPr algn="r">
                        <a:defRPr sz="900" b="0">
                          <a:solidFill>
                            <a:srgbClr val="2D2D2D"/>
                          </a:solidFill>
                          <a:latin typeface="Aptos"/>
                        </a:defRPr>
                      </a:pPr>
                      <a:r>
                        <a:t>EUR 58,562</a:t>
                      </a:r>
                    </a:p>
                  </a:txBody>
                  <a:tcPr>
                    <a:solidFill>
                      <a:srgbClr val="F5F9FC"/>
                    </a:solidFill>
                  </a:tcPr>
                </a:tc>
                <a:tc>
                  <a:txBody>
                    <a:bodyPr/>
                    <a:lstStyle/>
                    <a:p>
                      <a:pPr algn="r">
                        <a:defRPr sz="900" b="0">
                          <a:solidFill>
                            <a:srgbClr val="2D2D2D"/>
                          </a:solidFill>
                          <a:latin typeface="Aptos"/>
                        </a:defRPr>
                      </a:pPr>
                      <a:r>
                        <a:t>EUR 186,329</a:t>
                      </a:r>
                    </a:p>
                  </a:txBody>
                  <a:tcPr>
                    <a:solidFill>
                      <a:srgbClr val="F5F9FC"/>
                    </a:solidFill>
                  </a:tcPr>
                </a:tc>
                <a:tc>
                  <a:txBody>
                    <a:bodyPr/>
                    <a:lstStyle/>
                    <a:p>
                      <a:pPr algn="r">
                        <a:defRPr sz="900" b="0">
                          <a:solidFill>
                            <a:srgbClr val="2D2D2D"/>
                          </a:solidFill>
                          <a:latin typeface="Aptos"/>
                        </a:defRPr>
                      </a:pPr>
                      <a:r>
                        <a:t>EUR 314,096</a:t>
                      </a:r>
                    </a:p>
                  </a:txBody>
                  <a:tcPr>
                    <a:solidFill>
                      <a:srgbClr val="F5F9FC"/>
                    </a:solidFill>
                  </a:tcPr>
                </a:tc>
                <a:tc>
                  <a:txBody>
                    <a:bodyPr/>
                    <a:lstStyle/>
                    <a:p>
                      <a:pPr algn="r">
                        <a:defRPr sz="900" b="0">
                          <a:solidFill>
                            <a:srgbClr val="2D2D2D"/>
                          </a:solidFill>
                          <a:latin typeface="Aptos"/>
                        </a:defRPr>
                      </a:pPr>
                      <a:r>
                        <a:t>EUR 29,264</a:t>
                      </a:r>
                    </a:p>
                  </a:txBody>
                  <a:tcPr>
                    <a:solidFill>
                      <a:srgbClr val="F5F9FC"/>
                    </a:solidFill>
                  </a:tcPr>
                </a:tc>
              </a:tr>
              <a:tr h="538480">
                <a:tc>
                  <a:txBody>
                    <a:bodyPr/>
                    <a:lstStyle/>
                    <a:p>
                      <a:pPr algn="l">
                        <a:defRPr sz="900" b="0">
                          <a:solidFill>
                            <a:srgbClr val="2D2D2D"/>
                          </a:solidFill>
                          <a:latin typeface="Aptos"/>
                        </a:defRPr>
                      </a:pPr>
                      <a:r>
                        <a:t>POL+CZE</a:t>
                      </a:r>
                    </a:p>
                  </a:txBody>
                  <a:tcPr>
                    <a:solidFill>
                      <a:srgbClr val="FFFFFF"/>
                    </a:solidFill>
                  </a:tcPr>
                </a:tc>
                <a:tc>
                  <a:txBody>
                    <a:bodyPr/>
                    <a:lstStyle/>
                    <a:p>
                      <a:pPr algn="r">
                        <a:defRPr sz="900" b="0">
                          <a:solidFill>
                            <a:srgbClr val="2D2D2D"/>
                          </a:solidFill>
                          <a:latin typeface="Aptos"/>
                        </a:defRPr>
                      </a:pPr>
                      <a:r>
                        <a:t>EUR 56,856</a:t>
                      </a:r>
                    </a:p>
                  </a:txBody>
                  <a:tcPr>
                    <a:solidFill>
                      <a:srgbClr val="FFFFFF"/>
                    </a:solidFill>
                  </a:tcPr>
                </a:tc>
                <a:tc>
                  <a:txBody>
                    <a:bodyPr/>
                    <a:lstStyle/>
                    <a:p>
                      <a:pPr algn="r">
                        <a:defRPr sz="900" b="0">
                          <a:solidFill>
                            <a:srgbClr val="2D2D2D"/>
                          </a:solidFill>
                          <a:latin typeface="Aptos"/>
                        </a:defRPr>
                      </a:pPr>
                      <a:r>
                        <a:t>EUR 178,995</a:t>
                      </a:r>
                    </a:p>
                  </a:txBody>
                  <a:tcPr>
                    <a:solidFill>
                      <a:srgbClr val="FFFFFF"/>
                    </a:solidFill>
                  </a:tcPr>
                </a:tc>
                <a:tc>
                  <a:txBody>
                    <a:bodyPr/>
                    <a:lstStyle/>
                    <a:p>
                      <a:pPr algn="r">
                        <a:defRPr sz="900" b="0">
                          <a:solidFill>
                            <a:srgbClr val="2D2D2D"/>
                          </a:solidFill>
                          <a:latin typeface="Aptos"/>
                        </a:defRPr>
                      </a:pPr>
                      <a:r>
                        <a:t>EUR 301,134</a:t>
                      </a:r>
                    </a:p>
                  </a:txBody>
                  <a:tcPr>
                    <a:solidFill>
                      <a:srgbClr val="FFFFFF"/>
                    </a:solidFill>
                  </a:tcPr>
                </a:tc>
                <a:tc>
                  <a:txBody>
                    <a:bodyPr/>
                    <a:lstStyle/>
                    <a:p>
                      <a:pPr algn="r">
                        <a:defRPr sz="900" b="0">
                          <a:solidFill>
                            <a:srgbClr val="2D2D2D"/>
                          </a:solidFill>
                          <a:latin typeface="Aptos"/>
                        </a:defRPr>
                      </a:pPr>
                      <a:r>
                        <a:t>EUR -78,570</a:t>
                      </a:r>
                    </a:p>
                  </a:txBody>
                  <a:tcPr>
                    <a:solidFill>
                      <a:srgbClr val="FFFFFF"/>
                    </a:solidFill>
                  </a:tcPr>
                </a:tc>
              </a:tr>
              <a:tr h="538480">
                <a:tc>
                  <a:txBody>
                    <a:bodyPr/>
                    <a:lstStyle/>
                    <a:p>
                      <a:pPr algn="l">
                        <a:defRPr sz="900" b="0">
                          <a:solidFill>
                            <a:srgbClr val="2D2D2D"/>
                          </a:solidFill>
                          <a:latin typeface="Aptos"/>
                        </a:defRPr>
                      </a:pPr>
                      <a:r>
                        <a:t>NLD+ESP</a:t>
                      </a:r>
                    </a:p>
                  </a:txBody>
                  <a:tcPr>
                    <a:solidFill>
                      <a:srgbClr val="F5F9FC"/>
                    </a:solidFill>
                  </a:tcPr>
                </a:tc>
                <a:tc>
                  <a:txBody>
                    <a:bodyPr/>
                    <a:lstStyle/>
                    <a:p>
                      <a:pPr algn="r">
                        <a:defRPr sz="900" b="0">
                          <a:solidFill>
                            <a:srgbClr val="2D2D2D"/>
                          </a:solidFill>
                          <a:latin typeface="Aptos"/>
                        </a:defRPr>
                      </a:pPr>
                      <a:r>
                        <a:t>EUR 43,994</a:t>
                      </a:r>
                    </a:p>
                  </a:txBody>
                  <a:tcPr>
                    <a:solidFill>
                      <a:srgbClr val="F5F9FC"/>
                    </a:solidFill>
                  </a:tcPr>
                </a:tc>
                <a:tc>
                  <a:txBody>
                    <a:bodyPr/>
                    <a:lstStyle/>
                    <a:p>
                      <a:pPr algn="r">
                        <a:defRPr sz="900" b="0">
                          <a:solidFill>
                            <a:srgbClr val="2D2D2D"/>
                          </a:solidFill>
                          <a:latin typeface="Aptos"/>
                        </a:defRPr>
                      </a:pPr>
                      <a:r>
                        <a:t>EUR 166,931</a:t>
                      </a:r>
                    </a:p>
                  </a:txBody>
                  <a:tcPr>
                    <a:solidFill>
                      <a:srgbClr val="F5F9FC"/>
                    </a:solidFill>
                  </a:tcPr>
                </a:tc>
                <a:tc>
                  <a:txBody>
                    <a:bodyPr/>
                    <a:lstStyle/>
                    <a:p>
                      <a:pPr algn="r">
                        <a:defRPr sz="900" b="0">
                          <a:solidFill>
                            <a:srgbClr val="2D2D2D"/>
                          </a:solidFill>
                          <a:latin typeface="Aptos"/>
                        </a:defRPr>
                      </a:pPr>
                      <a:r>
                        <a:t>EUR 289,869</a:t>
                      </a:r>
                    </a:p>
                  </a:txBody>
                  <a:tcPr>
                    <a:solidFill>
                      <a:srgbClr val="F5F9FC"/>
                    </a:solidFill>
                  </a:tcPr>
                </a:tc>
                <a:tc>
                  <a:txBody>
                    <a:bodyPr/>
                    <a:lstStyle/>
                    <a:p>
                      <a:pPr algn="r">
                        <a:defRPr sz="900" b="0">
                          <a:solidFill>
                            <a:srgbClr val="2D2D2D"/>
                          </a:solidFill>
                          <a:latin typeface="Aptos"/>
                        </a:defRPr>
                      </a:pPr>
                      <a:r>
                        <a:t>EUR 107,630</a:t>
                      </a:r>
                    </a:p>
                  </a:txBody>
                  <a:tcPr>
                    <a:solidFill>
                      <a:srgbClr val="F5F9FC"/>
                    </a:solidFill>
                  </a:tcPr>
                </a:tc>
              </a:tr>
              <a:tr h="538480">
                <a:tc>
                  <a:txBody>
                    <a:bodyPr/>
                    <a:lstStyle/>
                    <a:p>
                      <a:pPr algn="l">
                        <a:defRPr sz="900" b="0">
                          <a:solidFill>
                            <a:srgbClr val="2D2D2D"/>
                          </a:solidFill>
                          <a:latin typeface="Aptos"/>
                        </a:defRPr>
                      </a:pPr>
                      <a:r>
                        <a:t>NLD+CZE</a:t>
                      </a:r>
                    </a:p>
                  </a:txBody>
                  <a:tcPr>
                    <a:solidFill>
                      <a:srgbClr val="FFFFFF"/>
                    </a:solidFill>
                  </a:tcPr>
                </a:tc>
                <a:tc>
                  <a:txBody>
                    <a:bodyPr/>
                    <a:lstStyle/>
                    <a:p>
                      <a:pPr algn="r">
                        <a:defRPr sz="900" b="0">
                          <a:solidFill>
                            <a:srgbClr val="2D2D2D"/>
                          </a:solidFill>
                          <a:latin typeface="Aptos"/>
                        </a:defRPr>
                      </a:pPr>
                      <a:r>
                        <a:t>EUR 42,289</a:t>
                      </a:r>
                    </a:p>
                  </a:txBody>
                  <a:tcPr>
                    <a:solidFill>
                      <a:srgbClr val="FFFFFF"/>
                    </a:solidFill>
                  </a:tcPr>
                </a:tc>
                <a:tc>
                  <a:txBody>
                    <a:bodyPr/>
                    <a:lstStyle/>
                    <a:p>
                      <a:pPr algn="r">
                        <a:defRPr sz="900" b="0">
                          <a:solidFill>
                            <a:srgbClr val="2D2D2D"/>
                          </a:solidFill>
                          <a:latin typeface="Aptos"/>
                        </a:defRPr>
                      </a:pPr>
                      <a:r>
                        <a:t>EUR 159,598</a:t>
                      </a:r>
                    </a:p>
                  </a:txBody>
                  <a:tcPr>
                    <a:solidFill>
                      <a:srgbClr val="FFFFFF"/>
                    </a:solidFill>
                  </a:tcPr>
                </a:tc>
                <a:tc>
                  <a:txBody>
                    <a:bodyPr/>
                    <a:lstStyle/>
                    <a:p>
                      <a:pPr algn="r">
                        <a:defRPr sz="900" b="0">
                          <a:solidFill>
                            <a:srgbClr val="2D2D2D"/>
                          </a:solidFill>
                          <a:latin typeface="Aptos"/>
                        </a:defRPr>
                      </a:pPr>
                      <a:r>
                        <a:t>EUR 276,907</a:t>
                      </a:r>
                    </a:p>
                  </a:txBody>
                  <a:tcPr>
                    <a:solidFill>
                      <a:srgbClr val="FFFFFF"/>
                    </a:solidFill>
                  </a:tcPr>
                </a:tc>
                <a:tc>
                  <a:txBody>
                    <a:bodyPr/>
                    <a:lstStyle/>
                    <a:p>
                      <a:pPr algn="r">
                        <a:defRPr sz="900" b="0">
                          <a:solidFill>
                            <a:srgbClr val="2D2D2D"/>
                          </a:solidFill>
                          <a:latin typeface="Aptos"/>
                        </a:defRPr>
                      </a:pPr>
                      <a:r>
                        <a:t>EUR -203</a:t>
                      </a:r>
                    </a:p>
                  </a:txBody>
                  <a:tcPr>
                    <a:solidFill>
                      <a:srgbClr val="FFFFFF"/>
                    </a:solidFill>
                  </a:tcPr>
                </a:tc>
              </a:tr>
              <a:tr h="538480">
                <a:tc>
                  <a:txBody>
                    <a:bodyPr/>
                    <a:lstStyle/>
                    <a:p>
                      <a:pPr algn="l">
                        <a:defRPr sz="900" b="0">
                          <a:solidFill>
                            <a:srgbClr val="2D2D2D"/>
                          </a:solidFill>
                          <a:latin typeface="Aptos"/>
                        </a:defRPr>
                      </a:pPr>
                      <a:r>
                        <a:t>NLD+POL</a:t>
                      </a:r>
                    </a:p>
                  </a:txBody>
                  <a:tcPr>
                    <a:solidFill>
                      <a:srgbClr val="F5F9FC"/>
                    </a:solidFill>
                  </a:tcPr>
                </a:tc>
                <a:tc>
                  <a:txBody>
                    <a:bodyPr/>
                    <a:lstStyle/>
                    <a:p>
                      <a:pPr algn="r">
                        <a:defRPr sz="900" b="0">
                          <a:solidFill>
                            <a:srgbClr val="2D2D2D"/>
                          </a:solidFill>
                          <a:latin typeface="Aptos"/>
                        </a:defRPr>
                      </a:pPr>
                      <a:r>
                        <a:t>EUR 36,232</a:t>
                      </a:r>
                    </a:p>
                  </a:txBody>
                  <a:tcPr>
                    <a:solidFill>
                      <a:srgbClr val="F5F9FC"/>
                    </a:solidFill>
                  </a:tcPr>
                </a:tc>
                <a:tc>
                  <a:txBody>
                    <a:bodyPr/>
                    <a:lstStyle/>
                    <a:p>
                      <a:pPr algn="r">
                        <a:defRPr sz="900" b="0">
                          <a:solidFill>
                            <a:srgbClr val="2D2D2D"/>
                          </a:solidFill>
                          <a:latin typeface="Aptos"/>
                        </a:defRPr>
                      </a:pPr>
                      <a:r>
                        <a:t>EUR 147,828</a:t>
                      </a:r>
                    </a:p>
                  </a:txBody>
                  <a:tcPr>
                    <a:solidFill>
                      <a:srgbClr val="F5F9FC"/>
                    </a:solidFill>
                  </a:tcPr>
                </a:tc>
                <a:tc>
                  <a:txBody>
                    <a:bodyPr/>
                    <a:lstStyle/>
                    <a:p>
                      <a:pPr algn="r">
                        <a:defRPr sz="900" b="0">
                          <a:solidFill>
                            <a:srgbClr val="2D2D2D"/>
                          </a:solidFill>
                          <a:latin typeface="Aptos"/>
                        </a:defRPr>
                      </a:pPr>
                      <a:r>
                        <a:t>EUR 259,423</a:t>
                      </a:r>
                    </a:p>
                  </a:txBody>
                  <a:tcPr>
                    <a:solidFill>
                      <a:srgbClr val="F5F9FC"/>
                    </a:solidFill>
                  </a:tcPr>
                </a:tc>
                <a:tc>
                  <a:txBody>
                    <a:bodyPr/>
                    <a:lstStyle/>
                    <a:p>
                      <a:pPr algn="r">
                        <a:defRPr sz="900" b="0">
                          <a:solidFill>
                            <a:srgbClr val="2D2D2D"/>
                          </a:solidFill>
                          <a:latin typeface="Aptos"/>
                        </a:defRPr>
                      </a:pPr>
                      <a:r>
                        <a:t>EUR -3,119</a:t>
                      </a:r>
                    </a:p>
                  </a:txBody>
                  <a:tcPr>
                    <a:solidFill>
                      <a:srgbClr val="F5F9FC"/>
                    </a:solidFill>
                  </a:tcPr>
                </a:tc>
              </a:tr>
              <a:tr h="538480">
                <a:tc>
                  <a:txBody>
                    <a:bodyPr/>
                    <a:lstStyle/>
                    <a:p>
                      <a:pPr algn="l">
                        <a:defRPr sz="900" b="0">
                          <a:solidFill>
                            <a:srgbClr val="2D2D2D"/>
                          </a:solidFill>
                          <a:latin typeface="Aptos"/>
                        </a:defRPr>
                      </a:pPr>
                      <a:r>
                        <a:t>FRA+ESP</a:t>
                      </a:r>
                    </a:p>
                  </a:txBody>
                  <a:tcPr>
                    <a:solidFill>
                      <a:srgbClr val="FFFFFF"/>
                    </a:solidFill>
                  </a:tcPr>
                </a:tc>
                <a:tc>
                  <a:txBody>
                    <a:bodyPr/>
                    <a:lstStyle/>
                    <a:p>
                      <a:pPr algn="r">
                        <a:defRPr sz="900" b="0">
                          <a:solidFill>
                            <a:srgbClr val="2D2D2D"/>
                          </a:solidFill>
                          <a:latin typeface="Aptos"/>
                        </a:defRPr>
                      </a:pPr>
                      <a:r>
                        <a:t>EUR 13,687</a:t>
                      </a:r>
                    </a:p>
                  </a:txBody>
                  <a:tcPr>
                    <a:solidFill>
                      <a:srgbClr val="FFFFFF"/>
                    </a:solidFill>
                  </a:tcPr>
                </a:tc>
                <a:tc>
                  <a:txBody>
                    <a:bodyPr/>
                    <a:lstStyle/>
                    <a:p>
                      <a:pPr algn="r">
                        <a:defRPr sz="900" b="0">
                          <a:solidFill>
                            <a:srgbClr val="2D2D2D"/>
                          </a:solidFill>
                          <a:latin typeface="Aptos"/>
                        </a:defRPr>
                      </a:pPr>
                      <a:r>
                        <a:t>EUR 129,849</a:t>
                      </a:r>
                    </a:p>
                  </a:txBody>
                  <a:tcPr>
                    <a:solidFill>
                      <a:srgbClr val="FFFFFF"/>
                    </a:solidFill>
                  </a:tcPr>
                </a:tc>
                <a:tc>
                  <a:txBody>
                    <a:bodyPr/>
                    <a:lstStyle/>
                    <a:p>
                      <a:pPr algn="r">
                        <a:defRPr sz="900" b="0">
                          <a:solidFill>
                            <a:srgbClr val="2D2D2D"/>
                          </a:solidFill>
                          <a:latin typeface="Aptos"/>
                        </a:defRPr>
                      </a:pPr>
                      <a:r>
                        <a:t>EUR 246,012</a:t>
                      </a:r>
                    </a:p>
                  </a:txBody>
                  <a:tcPr>
                    <a:solidFill>
                      <a:srgbClr val="FFFFFF"/>
                    </a:solidFill>
                  </a:tcPr>
                </a:tc>
                <a:tc>
                  <a:txBody>
                    <a:bodyPr/>
                    <a:lstStyle/>
                    <a:p>
                      <a:pPr algn="r">
                        <a:defRPr sz="900" b="0">
                          <a:solidFill>
                            <a:srgbClr val="2D2D2D"/>
                          </a:solidFill>
                          <a:latin typeface="Aptos"/>
                        </a:defRPr>
                      </a:pPr>
                      <a:r>
                        <a:t>EUR 73,105</a:t>
                      </a:r>
                    </a:p>
                  </a:txBody>
                  <a:tcPr>
                    <a:solidFill>
                      <a:srgbClr val="FFFFFF"/>
                    </a:solidFill>
                  </a:tcPr>
                </a:tc>
              </a:tr>
              <a:tr h="538480">
                <a:tc>
                  <a:txBody>
                    <a:bodyPr/>
                    <a:lstStyle/>
                    <a:p>
                      <a:pPr algn="l">
                        <a:defRPr sz="900" b="0">
                          <a:solidFill>
                            <a:srgbClr val="2D2D2D"/>
                          </a:solidFill>
                          <a:latin typeface="Aptos"/>
                        </a:defRPr>
                      </a:pPr>
                      <a:r>
                        <a:t>FRA+CZE</a:t>
                      </a:r>
                    </a:p>
                  </a:txBody>
                  <a:tcPr>
                    <a:solidFill>
                      <a:srgbClr val="F5F9FC"/>
                    </a:solidFill>
                  </a:tcPr>
                </a:tc>
                <a:tc>
                  <a:txBody>
                    <a:bodyPr/>
                    <a:lstStyle/>
                    <a:p>
                      <a:pPr algn="r">
                        <a:defRPr sz="900" b="0">
                          <a:solidFill>
                            <a:srgbClr val="2D2D2D"/>
                          </a:solidFill>
                          <a:latin typeface="Aptos"/>
                        </a:defRPr>
                      </a:pPr>
                      <a:r>
                        <a:t>EUR 11,981</a:t>
                      </a:r>
                    </a:p>
                  </a:txBody>
                  <a:tcPr>
                    <a:solidFill>
                      <a:srgbClr val="F5F9FC"/>
                    </a:solidFill>
                  </a:tcPr>
                </a:tc>
                <a:tc>
                  <a:txBody>
                    <a:bodyPr/>
                    <a:lstStyle/>
                    <a:p>
                      <a:pPr algn="r">
                        <a:defRPr sz="900" b="0">
                          <a:solidFill>
                            <a:srgbClr val="2D2D2D"/>
                          </a:solidFill>
                          <a:latin typeface="Aptos"/>
                        </a:defRPr>
                      </a:pPr>
                      <a:r>
                        <a:t>EUR 122,516</a:t>
                      </a:r>
                    </a:p>
                  </a:txBody>
                  <a:tcPr>
                    <a:solidFill>
                      <a:srgbClr val="F5F9FC"/>
                    </a:solidFill>
                  </a:tcPr>
                </a:tc>
                <a:tc>
                  <a:txBody>
                    <a:bodyPr/>
                    <a:lstStyle/>
                    <a:p>
                      <a:pPr algn="r">
                        <a:defRPr sz="900" b="0">
                          <a:solidFill>
                            <a:srgbClr val="2D2D2D"/>
                          </a:solidFill>
                          <a:latin typeface="Aptos"/>
                        </a:defRPr>
                      </a:pPr>
                      <a:r>
                        <a:t>EUR 233,050</a:t>
                      </a:r>
                    </a:p>
                  </a:txBody>
                  <a:tcPr>
                    <a:solidFill>
                      <a:srgbClr val="F5F9FC"/>
                    </a:solidFill>
                  </a:tcPr>
                </a:tc>
                <a:tc>
                  <a:txBody>
                    <a:bodyPr/>
                    <a:lstStyle/>
                    <a:p>
                      <a:pPr algn="r">
                        <a:defRPr sz="900" b="0">
                          <a:solidFill>
                            <a:srgbClr val="2D2D2D"/>
                          </a:solidFill>
                          <a:latin typeface="Aptos"/>
                        </a:defRPr>
                      </a:pPr>
                      <a:r>
                        <a:t>EUR -34,729</a:t>
                      </a:r>
                    </a:p>
                  </a:txBody>
                  <a:tcPr>
                    <a:solidFill>
                      <a:srgbClr val="F5F9FC"/>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55680" cy="502920"/>
          </a:xfrm>
          <a:prstGeom prst="rect">
            <a:avLst/>
          </a:prstGeom>
          <a:noFill/>
        </p:spPr>
        <p:txBody>
          <a:bodyPr wrap="square">
            <a:spAutoFit/>
          </a:bodyPr>
          <a:lstStyle/>
          <a:p>
            <a:pPr algn="l"/>
            <a:r>
              <a:rPr sz="2500" b="1">
                <a:solidFill>
                  <a:srgbClr val="1F4E79"/>
                </a:solidFill>
                <a:latin typeface="Aptos"/>
              </a:rPr>
              <a:t>Evidence and accounting controls</a:t>
            </a:r>
          </a:p>
        </p:txBody>
      </p:sp>
      <p:sp>
        <p:nvSpPr>
          <p:cNvPr id="3" name="TextBox 2"/>
          <p:cNvSpPr txBox="1"/>
          <p:nvPr/>
        </p:nvSpPr>
        <p:spPr>
          <a:xfrm>
            <a:off x="530352" y="868680"/>
            <a:ext cx="11064240" cy="320040"/>
          </a:xfrm>
          <a:prstGeom prst="rect">
            <a:avLst/>
          </a:prstGeom>
          <a:noFill/>
        </p:spPr>
        <p:txBody>
          <a:bodyPr wrap="square">
            <a:spAutoFit/>
          </a:bodyPr>
          <a:lstStyle/>
          <a:p>
            <a:pPr algn="l"/>
            <a:r>
              <a:rPr sz="1000" b="0">
                <a:solidFill>
                  <a:srgbClr val="5F5F5F"/>
                </a:solidFill>
                <a:latin typeface="Aptos"/>
              </a:rPr>
              <a:t>Reconciliation is part of the recommendation, not an appendix</a:t>
            </a:r>
          </a:p>
        </p:txBody>
      </p:sp>
      <p:sp>
        <p:nvSpPr>
          <p:cNvPr id="4" name="TextBox 3"/>
          <p:cNvSpPr txBox="1"/>
          <p:nvPr/>
        </p:nvSpPr>
        <p:spPr>
          <a:xfrm>
            <a:off x="777240" y="1325880"/>
            <a:ext cx="1965960" cy="320040"/>
          </a:xfrm>
          <a:prstGeom prst="rect">
            <a:avLst/>
          </a:prstGeom>
          <a:noFill/>
        </p:spPr>
        <p:txBody>
          <a:bodyPr wrap="square">
            <a:spAutoFit/>
          </a:bodyPr>
          <a:lstStyle/>
          <a:p>
            <a:pPr algn="l"/>
            <a:r>
              <a:rPr sz="1500" b="1">
                <a:solidFill>
                  <a:srgbClr val="2F5597"/>
                </a:solidFill>
                <a:latin typeface="Aptos"/>
              </a:rPr>
              <a:t>Revision control</a:t>
            </a:r>
          </a:p>
        </p:txBody>
      </p:sp>
      <p:sp>
        <p:nvSpPr>
          <p:cNvPr id="5" name="TextBox 4"/>
          <p:cNvSpPr txBox="1"/>
          <p:nvPr/>
        </p:nvSpPr>
        <p:spPr>
          <a:xfrm>
            <a:off x="2834640" y="1325880"/>
            <a:ext cx="8321040" cy="384048"/>
          </a:xfrm>
          <a:prstGeom prst="rect">
            <a:avLst/>
          </a:prstGeom>
          <a:noFill/>
        </p:spPr>
        <p:txBody>
          <a:bodyPr wrap="square">
            <a:spAutoFit/>
          </a:bodyPr>
          <a:lstStyle/>
          <a:p>
            <a:pPr algn="l"/>
            <a:r>
              <a:rPr sz="1400" b="0">
                <a:solidFill>
                  <a:srgbClr val="2D2D2D"/>
                </a:solidFill>
                <a:latin typeface="Aptos"/>
              </a:rPr>
              <a:t>Highest numeric revision per order_id and return_id; exact repeats collapsed.</a:t>
            </a:r>
          </a:p>
        </p:txBody>
      </p:sp>
      <p:sp>
        <p:nvSpPr>
          <p:cNvPr id="6" name="TextBox 5"/>
          <p:cNvSpPr txBox="1"/>
          <p:nvPr/>
        </p:nvSpPr>
        <p:spPr>
          <a:xfrm>
            <a:off x="777240" y="2103120"/>
            <a:ext cx="1965960" cy="320040"/>
          </a:xfrm>
          <a:prstGeom prst="rect">
            <a:avLst/>
          </a:prstGeom>
          <a:noFill/>
        </p:spPr>
        <p:txBody>
          <a:bodyPr wrap="square">
            <a:spAutoFit/>
          </a:bodyPr>
          <a:lstStyle/>
          <a:p>
            <a:pPr algn="l"/>
            <a:r>
              <a:rPr sz="1500" b="1">
                <a:solidFill>
                  <a:srgbClr val="2F5597"/>
                </a:solidFill>
                <a:latin typeface="Aptos"/>
              </a:rPr>
              <a:t>Eligibility</a:t>
            </a:r>
          </a:p>
        </p:txBody>
      </p:sp>
      <p:sp>
        <p:nvSpPr>
          <p:cNvPr id="7" name="TextBox 6"/>
          <p:cNvSpPr txBox="1"/>
          <p:nvPr/>
        </p:nvSpPr>
        <p:spPr>
          <a:xfrm>
            <a:off x="2834640" y="2103120"/>
            <a:ext cx="8321040" cy="384048"/>
          </a:xfrm>
          <a:prstGeom prst="rect">
            <a:avLst/>
          </a:prstGeom>
          <a:noFill/>
        </p:spPr>
        <p:txBody>
          <a:bodyPr wrap="square">
            <a:spAutoFit/>
          </a:bodyPr>
          <a:lstStyle/>
          <a:p>
            <a:pPr algn="l"/>
            <a:r>
              <a:rPr sz="1400" b="0">
                <a:solidFill>
                  <a:srgbClr val="2D2D2D"/>
                </a:solidFill>
                <a:latin typeface="Aptos"/>
              </a:rPr>
              <a:t>Shipped, non-test, shipped in 2025; Jan 2026 orders excluded from 2025 base.</a:t>
            </a:r>
          </a:p>
        </p:txBody>
      </p:sp>
      <p:sp>
        <p:nvSpPr>
          <p:cNvPr id="8" name="TextBox 7"/>
          <p:cNvSpPr txBox="1"/>
          <p:nvPr/>
        </p:nvSpPr>
        <p:spPr>
          <a:xfrm>
            <a:off x="777240" y="2880360"/>
            <a:ext cx="1965960" cy="320040"/>
          </a:xfrm>
          <a:prstGeom prst="rect">
            <a:avLst/>
          </a:prstGeom>
          <a:noFill/>
        </p:spPr>
        <p:txBody>
          <a:bodyPr wrap="square">
            <a:spAutoFit/>
          </a:bodyPr>
          <a:lstStyle/>
          <a:p>
            <a:pPr algn="l"/>
            <a:r>
              <a:rPr sz="1500" b="1">
                <a:solidFill>
                  <a:srgbClr val="2F5597"/>
                </a:solidFill>
                <a:latin typeface="Aptos"/>
              </a:rPr>
              <a:t>Returns</a:t>
            </a:r>
          </a:p>
        </p:txBody>
      </p:sp>
      <p:sp>
        <p:nvSpPr>
          <p:cNvPr id="9" name="TextBox 8"/>
          <p:cNvSpPr txBox="1"/>
          <p:nvPr/>
        </p:nvSpPr>
        <p:spPr>
          <a:xfrm>
            <a:off x="2834640" y="2880360"/>
            <a:ext cx="8321040" cy="384048"/>
          </a:xfrm>
          <a:prstGeom prst="rect">
            <a:avLst/>
          </a:prstGeom>
          <a:noFill/>
        </p:spPr>
        <p:txBody>
          <a:bodyPr wrap="square">
            <a:spAutoFit/>
          </a:bodyPr>
          <a:lstStyle/>
          <a:p>
            <a:pPr algn="l"/>
            <a:r>
              <a:rPr sz="1400" b="0">
                <a:solidFill>
                  <a:srgbClr val="2D2D2D"/>
                </a:solidFill>
                <a:latin typeface="Aptos"/>
              </a:rPr>
              <a:t>Cutoff inclusive through 31 Jan 2026; orphan returns quarantined; legitimate IDs additive.</a:t>
            </a:r>
          </a:p>
        </p:txBody>
      </p:sp>
      <p:sp>
        <p:nvSpPr>
          <p:cNvPr id="10" name="TextBox 9"/>
          <p:cNvSpPr txBox="1"/>
          <p:nvPr/>
        </p:nvSpPr>
        <p:spPr>
          <a:xfrm>
            <a:off x="777240" y="3657600"/>
            <a:ext cx="1965960" cy="320040"/>
          </a:xfrm>
          <a:prstGeom prst="rect">
            <a:avLst/>
          </a:prstGeom>
          <a:noFill/>
        </p:spPr>
        <p:txBody>
          <a:bodyPr wrap="square">
            <a:spAutoFit/>
          </a:bodyPr>
          <a:lstStyle/>
          <a:p>
            <a:pPr algn="l"/>
            <a:r>
              <a:rPr sz="1500" b="1">
                <a:solidFill>
                  <a:srgbClr val="2F5597"/>
                </a:solidFill>
                <a:latin typeface="Aptos"/>
              </a:rPr>
              <a:t>FX</a:t>
            </a:r>
          </a:p>
        </p:txBody>
      </p:sp>
      <p:sp>
        <p:nvSpPr>
          <p:cNvPr id="11" name="TextBox 10"/>
          <p:cNvSpPr txBox="1"/>
          <p:nvPr/>
        </p:nvSpPr>
        <p:spPr>
          <a:xfrm>
            <a:off x="2834640" y="3657600"/>
            <a:ext cx="8321040" cy="384048"/>
          </a:xfrm>
          <a:prstGeom prst="rect">
            <a:avLst/>
          </a:prstGeom>
          <a:noFill/>
        </p:spPr>
        <p:txBody>
          <a:bodyPr wrap="square">
            <a:spAutoFit/>
          </a:bodyPr>
          <a:lstStyle/>
          <a:p>
            <a:pPr algn="l"/>
            <a:r>
              <a:rPr sz="1400" b="0">
                <a:solidFill>
                  <a:srgbClr val="2D2D2D"/>
                </a:solidFill>
                <a:latin typeface="Aptos"/>
              </a:rPr>
              <a:t>Original sale-month mean ECB business-day quote; PLN/CZK not inverted; EUR=1.</a:t>
            </a:r>
          </a:p>
        </p:txBody>
      </p:sp>
      <p:sp>
        <p:nvSpPr>
          <p:cNvPr id="12" name="TextBox 11"/>
          <p:cNvSpPr txBox="1"/>
          <p:nvPr/>
        </p:nvSpPr>
        <p:spPr>
          <a:xfrm>
            <a:off x="777240" y="4434840"/>
            <a:ext cx="1965960" cy="320040"/>
          </a:xfrm>
          <a:prstGeom prst="rect">
            <a:avLst/>
          </a:prstGeom>
          <a:noFill/>
        </p:spPr>
        <p:txBody>
          <a:bodyPr wrap="square">
            <a:spAutoFit/>
          </a:bodyPr>
          <a:lstStyle/>
          <a:p>
            <a:pPr algn="l"/>
            <a:r>
              <a:rPr sz="1500" b="1">
                <a:solidFill>
                  <a:srgbClr val="2F5597"/>
                </a:solidFill>
                <a:latin typeface="Aptos"/>
              </a:rPr>
              <a:t>Rounding</a:t>
            </a:r>
          </a:p>
        </p:txBody>
      </p:sp>
      <p:sp>
        <p:nvSpPr>
          <p:cNvPr id="13" name="TextBox 12"/>
          <p:cNvSpPr txBox="1"/>
          <p:nvPr/>
        </p:nvSpPr>
        <p:spPr>
          <a:xfrm>
            <a:off x="2834640" y="4434840"/>
            <a:ext cx="8321040" cy="384048"/>
          </a:xfrm>
          <a:prstGeom prst="rect">
            <a:avLst/>
          </a:prstGeom>
          <a:noFill/>
        </p:spPr>
        <p:txBody>
          <a:bodyPr wrap="square">
            <a:spAutoFit/>
          </a:bodyPr>
          <a:lstStyle/>
          <a:p>
            <a:pPr algn="l"/>
            <a:r>
              <a:rPr sz="1400" b="0">
                <a:solidFill>
                  <a:srgbClr val="2D2D2D"/>
                </a:solidFill>
                <a:latin typeface="Aptos"/>
              </a:rPr>
              <a:t>Order-level half-up cents before aggregation; zero-price shipments retained.</a:t>
            </a:r>
          </a:p>
        </p:txBody>
      </p:sp>
      <p:sp>
        <p:nvSpPr>
          <p:cNvPr id="14" name="TextBox 13"/>
          <p:cNvSpPr txBox="1"/>
          <p:nvPr/>
        </p:nvSpPr>
        <p:spPr>
          <a:xfrm>
            <a:off x="777240" y="5486400"/>
            <a:ext cx="10515600" cy="594360"/>
          </a:xfrm>
          <a:prstGeom prst="rect">
            <a:avLst/>
          </a:prstGeom>
          <a:noFill/>
        </p:spPr>
        <p:txBody>
          <a:bodyPr wrap="square">
            <a:spAutoFit/>
          </a:bodyPr>
          <a:lstStyle/>
          <a:p>
            <a:pPr algn="l"/>
            <a:r>
              <a:rPr sz="1200" b="1">
                <a:solidFill>
                  <a:srgbClr val="AA3C32"/>
                </a:solidFill>
                <a:latin typeface="Aptos"/>
              </a:rPr>
              <a:t>Known limits: synthetic client data, no interviews or live account access, no actual transaction FX or full DCF. Public World Bank/ECB inputs are archived snapshots.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55680" cy="502920"/>
          </a:xfrm>
          <a:prstGeom prst="rect">
            <a:avLst/>
          </a:prstGeom>
          <a:noFill/>
        </p:spPr>
        <p:txBody>
          <a:bodyPr wrap="square">
            <a:spAutoFit/>
          </a:bodyPr>
          <a:lstStyle/>
          <a:p>
            <a:pPr algn="l"/>
            <a:r>
              <a:rPr sz="2500" b="1">
                <a:solidFill>
                  <a:srgbClr val="1F4E79"/>
                </a:solidFill>
                <a:latin typeface="Aptos"/>
              </a:rPr>
              <a:t>90-day implementation</a:t>
            </a:r>
          </a:p>
        </p:txBody>
      </p:sp>
      <p:sp>
        <p:nvSpPr>
          <p:cNvPr id="3" name="TextBox 2"/>
          <p:cNvSpPr txBox="1"/>
          <p:nvPr/>
        </p:nvSpPr>
        <p:spPr>
          <a:xfrm>
            <a:off x="530352" y="868680"/>
            <a:ext cx="11064240" cy="320040"/>
          </a:xfrm>
          <a:prstGeom prst="rect">
            <a:avLst/>
          </a:prstGeom>
          <a:noFill/>
        </p:spPr>
        <p:txBody>
          <a:bodyPr wrap="square">
            <a:spAutoFit/>
          </a:bodyPr>
          <a:lstStyle/>
          <a:p>
            <a:pPr algn="l"/>
            <a:r>
              <a:rPr sz="1000" b="0">
                <a:solidFill>
                  <a:srgbClr val="5F5F5F"/>
                </a:solidFill>
                <a:latin typeface="Aptos"/>
              </a:rPr>
              <a:t>Stage the irreversible commitments</a:t>
            </a:r>
          </a:p>
        </p:txBody>
      </p:sp>
      <p:sp>
        <p:nvSpPr>
          <p:cNvPr id="4" name="TextBox 3"/>
          <p:cNvSpPr txBox="1"/>
          <p:nvPr/>
        </p:nvSpPr>
        <p:spPr>
          <a:xfrm>
            <a:off x="685800" y="1234440"/>
            <a:ext cx="914400" cy="320040"/>
          </a:xfrm>
          <a:prstGeom prst="rect">
            <a:avLst/>
          </a:prstGeom>
          <a:noFill/>
        </p:spPr>
        <p:txBody>
          <a:bodyPr wrap="square">
            <a:spAutoFit/>
          </a:bodyPr>
          <a:lstStyle/>
          <a:p>
            <a:pPr algn="l"/>
            <a:r>
              <a:rPr sz="1600" b="1">
                <a:solidFill>
                  <a:srgbClr val="2F5597"/>
                </a:solidFill>
                <a:latin typeface="Aptos"/>
              </a:rPr>
              <a:t>0–15</a:t>
            </a:r>
          </a:p>
        </p:txBody>
      </p:sp>
      <p:sp>
        <p:nvSpPr>
          <p:cNvPr id="5" name="TextBox 4"/>
          <p:cNvSpPr txBox="1"/>
          <p:nvPr/>
        </p:nvSpPr>
        <p:spPr>
          <a:xfrm>
            <a:off x="1737360" y="1234440"/>
            <a:ext cx="2011680" cy="320040"/>
          </a:xfrm>
          <a:prstGeom prst="rect">
            <a:avLst/>
          </a:prstGeom>
          <a:noFill/>
        </p:spPr>
        <p:txBody>
          <a:bodyPr wrap="square">
            <a:spAutoFit/>
          </a:bodyPr>
          <a:lstStyle/>
          <a:p>
            <a:pPr algn="l"/>
            <a:r>
              <a:rPr sz="1400" b="1">
                <a:solidFill>
                  <a:srgbClr val="1F4E79"/>
                </a:solidFill>
                <a:latin typeface="Aptos"/>
              </a:rPr>
              <a:t>COO + Finance</a:t>
            </a:r>
          </a:p>
        </p:txBody>
      </p:sp>
      <p:sp>
        <p:nvSpPr>
          <p:cNvPr id="6" name="TextBox 5"/>
          <p:cNvSpPr txBox="1"/>
          <p:nvPr/>
        </p:nvSpPr>
        <p:spPr>
          <a:xfrm>
            <a:off x="3931920" y="1234440"/>
            <a:ext cx="3931920" cy="411480"/>
          </a:xfrm>
          <a:prstGeom prst="rect">
            <a:avLst/>
          </a:prstGeom>
          <a:noFill/>
        </p:spPr>
        <p:txBody>
          <a:bodyPr wrap="square">
            <a:spAutoFit/>
          </a:bodyPr>
          <a:lstStyle/>
          <a:p>
            <a:pPr algn="l"/>
            <a:r>
              <a:rPr sz="1300" b="0">
                <a:solidFill>
                  <a:srgbClr val="2D2D2D"/>
                </a:solidFill>
                <a:latin typeface="Aptos"/>
              </a:rPr>
              <a:t>Quotes, sites, labor, tax/returns review</a:t>
            </a:r>
          </a:p>
        </p:txBody>
      </p:sp>
      <p:sp>
        <p:nvSpPr>
          <p:cNvPr id="7" name="TextBox 6"/>
          <p:cNvSpPr txBox="1"/>
          <p:nvPr/>
        </p:nvSpPr>
        <p:spPr>
          <a:xfrm>
            <a:off x="8046720" y="1234440"/>
            <a:ext cx="3383280" cy="411480"/>
          </a:xfrm>
          <a:prstGeom prst="rect">
            <a:avLst/>
          </a:prstGeom>
          <a:noFill/>
        </p:spPr>
        <p:txBody>
          <a:bodyPr wrap="square">
            <a:spAutoFit/>
          </a:bodyPr>
          <a:lstStyle/>
          <a:p>
            <a:pPr algn="l"/>
            <a:r>
              <a:rPr sz="1200" b="1">
                <a:solidFill>
                  <a:srgbClr val="1F7850"/>
                </a:solidFill>
                <a:latin typeface="Aptos"/>
              </a:rPr>
              <a:t>Gate: capex/FTE within limits</a:t>
            </a:r>
          </a:p>
        </p:txBody>
      </p:sp>
      <p:sp>
        <p:nvSpPr>
          <p:cNvPr id="8" name="TextBox 7"/>
          <p:cNvSpPr txBox="1"/>
          <p:nvPr/>
        </p:nvSpPr>
        <p:spPr>
          <a:xfrm>
            <a:off x="685800" y="2377440"/>
            <a:ext cx="914400" cy="320040"/>
          </a:xfrm>
          <a:prstGeom prst="rect">
            <a:avLst/>
          </a:prstGeom>
          <a:noFill/>
        </p:spPr>
        <p:txBody>
          <a:bodyPr wrap="square">
            <a:spAutoFit/>
          </a:bodyPr>
          <a:lstStyle/>
          <a:p>
            <a:pPr algn="l"/>
            <a:r>
              <a:rPr sz="1600" b="1">
                <a:solidFill>
                  <a:srgbClr val="2F5597"/>
                </a:solidFill>
                <a:latin typeface="Aptos"/>
              </a:rPr>
              <a:t>16–45</a:t>
            </a:r>
          </a:p>
        </p:txBody>
      </p:sp>
      <p:sp>
        <p:nvSpPr>
          <p:cNvPr id="9" name="TextBox 8"/>
          <p:cNvSpPr txBox="1"/>
          <p:nvPr/>
        </p:nvSpPr>
        <p:spPr>
          <a:xfrm>
            <a:off x="1737360" y="2377440"/>
            <a:ext cx="2011680" cy="320040"/>
          </a:xfrm>
          <a:prstGeom prst="rect">
            <a:avLst/>
          </a:prstGeom>
          <a:noFill/>
        </p:spPr>
        <p:txBody>
          <a:bodyPr wrap="square">
            <a:spAutoFit/>
          </a:bodyPr>
          <a:lstStyle/>
          <a:p>
            <a:pPr algn="l"/>
            <a:r>
              <a:rPr sz="1400" b="1">
                <a:solidFill>
                  <a:srgbClr val="1F4E79"/>
                </a:solidFill>
                <a:latin typeface="Aptos"/>
              </a:rPr>
              <a:t>Operations + Commercial</a:t>
            </a:r>
          </a:p>
        </p:txBody>
      </p:sp>
      <p:sp>
        <p:nvSpPr>
          <p:cNvPr id="10" name="TextBox 9"/>
          <p:cNvSpPr txBox="1"/>
          <p:nvPr/>
        </p:nvSpPr>
        <p:spPr>
          <a:xfrm>
            <a:off x="3931920" y="2377440"/>
            <a:ext cx="3931920" cy="411480"/>
          </a:xfrm>
          <a:prstGeom prst="rect">
            <a:avLst/>
          </a:prstGeom>
          <a:noFill/>
        </p:spPr>
        <p:txBody>
          <a:bodyPr wrap="square">
            <a:spAutoFit/>
          </a:bodyPr>
          <a:lstStyle/>
          <a:p>
            <a:pPr algn="l"/>
            <a:r>
              <a:rPr sz="1300" b="0">
                <a:solidFill>
                  <a:srgbClr val="2D2D2D"/>
                </a:solidFill>
                <a:latin typeface="Aptos"/>
              </a:rPr>
              <a:t>Controlled routing/service pilot</a:t>
            </a:r>
          </a:p>
        </p:txBody>
      </p:sp>
      <p:sp>
        <p:nvSpPr>
          <p:cNvPr id="11" name="TextBox 10"/>
          <p:cNvSpPr txBox="1"/>
          <p:nvPr/>
        </p:nvSpPr>
        <p:spPr>
          <a:xfrm>
            <a:off x="8046720" y="2377440"/>
            <a:ext cx="3383280" cy="411480"/>
          </a:xfrm>
          <a:prstGeom prst="rect">
            <a:avLst/>
          </a:prstGeom>
          <a:noFill/>
        </p:spPr>
        <p:txBody>
          <a:bodyPr wrap="square">
            <a:spAutoFit/>
          </a:bodyPr>
          <a:lstStyle/>
          <a:p>
            <a:pPr algn="l"/>
            <a:r>
              <a:rPr sz="1200" b="1">
                <a:solidFill>
                  <a:srgbClr val="1F7850"/>
                </a:solidFill>
                <a:latin typeface="Aptos"/>
              </a:rPr>
              <a:t>KPI: uplift, savings, on-time %</a:t>
            </a:r>
          </a:p>
        </p:txBody>
      </p:sp>
      <p:sp>
        <p:nvSpPr>
          <p:cNvPr id="12" name="TextBox 11"/>
          <p:cNvSpPr txBox="1"/>
          <p:nvPr/>
        </p:nvSpPr>
        <p:spPr>
          <a:xfrm>
            <a:off x="685800" y="3520440"/>
            <a:ext cx="914400" cy="320040"/>
          </a:xfrm>
          <a:prstGeom prst="rect">
            <a:avLst/>
          </a:prstGeom>
          <a:noFill/>
        </p:spPr>
        <p:txBody>
          <a:bodyPr wrap="square">
            <a:spAutoFit/>
          </a:bodyPr>
          <a:lstStyle/>
          <a:p>
            <a:pPr algn="l"/>
            <a:r>
              <a:rPr sz="1600" b="1">
                <a:solidFill>
                  <a:srgbClr val="2F5597"/>
                </a:solidFill>
                <a:latin typeface="Aptos"/>
              </a:rPr>
              <a:t>46–75</a:t>
            </a:r>
          </a:p>
        </p:txBody>
      </p:sp>
      <p:sp>
        <p:nvSpPr>
          <p:cNvPr id="13" name="TextBox 12"/>
          <p:cNvSpPr txBox="1"/>
          <p:nvPr/>
        </p:nvSpPr>
        <p:spPr>
          <a:xfrm>
            <a:off x="1737360" y="3520440"/>
            <a:ext cx="2011680" cy="320040"/>
          </a:xfrm>
          <a:prstGeom prst="rect">
            <a:avLst/>
          </a:prstGeom>
          <a:noFill/>
        </p:spPr>
        <p:txBody>
          <a:bodyPr wrap="square">
            <a:spAutoFit/>
          </a:bodyPr>
          <a:lstStyle/>
          <a:p>
            <a:pPr algn="l"/>
            <a:r>
              <a:rPr sz="1400" b="1">
                <a:solidFill>
                  <a:srgbClr val="1F4E79"/>
                </a:solidFill>
                <a:latin typeface="Aptos"/>
              </a:rPr>
              <a:t>Finance + Data</a:t>
            </a:r>
          </a:p>
        </p:txBody>
      </p:sp>
      <p:sp>
        <p:nvSpPr>
          <p:cNvPr id="14" name="TextBox 13"/>
          <p:cNvSpPr txBox="1"/>
          <p:nvPr/>
        </p:nvSpPr>
        <p:spPr>
          <a:xfrm>
            <a:off x="3931920" y="3520440"/>
            <a:ext cx="3931920" cy="411480"/>
          </a:xfrm>
          <a:prstGeom prst="rect">
            <a:avLst/>
          </a:prstGeom>
          <a:noFill/>
        </p:spPr>
        <p:txBody>
          <a:bodyPr wrap="square">
            <a:spAutoFit/>
          </a:bodyPr>
          <a:lstStyle/>
          <a:p>
            <a:pPr algn="l"/>
            <a:r>
              <a:rPr sz="1300" b="0">
                <a:solidFill>
                  <a:srgbClr val="2D2D2D"/>
                </a:solidFill>
                <a:latin typeface="Aptos"/>
              </a:rPr>
              <a:t>Reconcile refunds, FX, COGS recovery</a:t>
            </a:r>
          </a:p>
        </p:txBody>
      </p:sp>
      <p:sp>
        <p:nvSpPr>
          <p:cNvPr id="15" name="TextBox 14"/>
          <p:cNvSpPr txBox="1"/>
          <p:nvPr/>
        </p:nvSpPr>
        <p:spPr>
          <a:xfrm>
            <a:off x="8046720" y="3520440"/>
            <a:ext cx="3383280" cy="411480"/>
          </a:xfrm>
          <a:prstGeom prst="rect">
            <a:avLst/>
          </a:prstGeom>
          <a:noFill/>
        </p:spPr>
        <p:txBody>
          <a:bodyPr wrap="square">
            <a:spAutoFit/>
          </a:bodyPr>
          <a:lstStyle/>
          <a:p>
            <a:pPr algn="l"/>
            <a:r>
              <a:rPr sz="1200" b="1">
                <a:solidFill>
                  <a:srgbClr val="1F7850"/>
                </a:solidFill>
                <a:latin typeface="Aptos"/>
              </a:rPr>
              <a:t>Gate: data sign-off, stress test</a:t>
            </a:r>
          </a:p>
        </p:txBody>
      </p:sp>
      <p:sp>
        <p:nvSpPr>
          <p:cNvPr id="16" name="TextBox 15"/>
          <p:cNvSpPr txBox="1"/>
          <p:nvPr/>
        </p:nvSpPr>
        <p:spPr>
          <a:xfrm>
            <a:off x="685800" y="4663440"/>
            <a:ext cx="914400" cy="320040"/>
          </a:xfrm>
          <a:prstGeom prst="rect">
            <a:avLst/>
          </a:prstGeom>
          <a:noFill/>
        </p:spPr>
        <p:txBody>
          <a:bodyPr wrap="square">
            <a:spAutoFit/>
          </a:bodyPr>
          <a:lstStyle/>
          <a:p>
            <a:pPr algn="l"/>
            <a:r>
              <a:rPr sz="1600" b="1">
                <a:solidFill>
                  <a:srgbClr val="2F5597"/>
                </a:solidFill>
                <a:latin typeface="Aptos"/>
              </a:rPr>
              <a:t>76–90</a:t>
            </a:r>
          </a:p>
        </p:txBody>
      </p:sp>
      <p:sp>
        <p:nvSpPr>
          <p:cNvPr id="17" name="TextBox 16"/>
          <p:cNvSpPr txBox="1"/>
          <p:nvPr/>
        </p:nvSpPr>
        <p:spPr>
          <a:xfrm>
            <a:off x="1737360" y="4663440"/>
            <a:ext cx="2011680" cy="320040"/>
          </a:xfrm>
          <a:prstGeom prst="rect">
            <a:avLst/>
          </a:prstGeom>
          <a:noFill/>
        </p:spPr>
        <p:txBody>
          <a:bodyPr wrap="square">
            <a:spAutoFit/>
          </a:bodyPr>
          <a:lstStyle/>
          <a:p>
            <a:pPr algn="l"/>
            <a:r>
              <a:rPr sz="1400" b="1">
                <a:solidFill>
                  <a:srgbClr val="1F4E79"/>
                </a:solidFill>
                <a:latin typeface="Aptos"/>
              </a:rPr>
              <a:t>Board sponsor + COO</a:t>
            </a:r>
          </a:p>
        </p:txBody>
      </p:sp>
      <p:sp>
        <p:nvSpPr>
          <p:cNvPr id="18" name="TextBox 17"/>
          <p:cNvSpPr txBox="1"/>
          <p:nvPr/>
        </p:nvSpPr>
        <p:spPr>
          <a:xfrm>
            <a:off x="3931920" y="4663440"/>
            <a:ext cx="3931920" cy="411480"/>
          </a:xfrm>
          <a:prstGeom prst="rect">
            <a:avLst/>
          </a:prstGeom>
          <a:noFill/>
        </p:spPr>
        <p:txBody>
          <a:bodyPr wrap="square">
            <a:spAutoFit/>
          </a:bodyPr>
          <a:lstStyle/>
          <a:p>
            <a:pPr algn="l"/>
            <a:r>
              <a:rPr sz="1300" b="0">
                <a:solidFill>
                  <a:srgbClr val="2D2D2D"/>
                </a:solidFill>
                <a:latin typeface="Aptos"/>
              </a:rPr>
              <a:t>Approve, resize, defer or switch</a:t>
            </a:r>
          </a:p>
        </p:txBody>
      </p:sp>
      <p:sp>
        <p:nvSpPr>
          <p:cNvPr id="19" name="TextBox 18"/>
          <p:cNvSpPr txBox="1"/>
          <p:nvPr/>
        </p:nvSpPr>
        <p:spPr>
          <a:xfrm>
            <a:off x="8046720" y="4663440"/>
            <a:ext cx="3383280" cy="411480"/>
          </a:xfrm>
          <a:prstGeom prst="rect">
            <a:avLst/>
          </a:prstGeom>
          <a:noFill/>
        </p:spPr>
        <p:txBody>
          <a:bodyPr wrap="square">
            <a:spAutoFit/>
          </a:bodyPr>
          <a:lstStyle/>
          <a:p>
            <a:pPr algn="l"/>
            <a:r>
              <a:rPr sz="1200" b="1">
                <a:solidFill>
                  <a:srgbClr val="1F7850"/>
                </a:solidFill>
                <a:latin typeface="Aptos"/>
              </a:rPr>
              <a:t>Go/no-go on measured run-rate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55680" cy="502920"/>
          </a:xfrm>
          <a:prstGeom prst="rect">
            <a:avLst/>
          </a:prstGeom>
          <a:noFill/>
        </p:spPr>
        <p:txBody>
          <a:bodyPr wrap="square">
            <a:spAutoFit/>
          </a:bodyPr>
          <a:lstStyle/>
          <a:p>
            <a:pPr algn="l"/>
            <a:r>
              <a:rPr sz="2500" b="1">
                <a:solidFill>
                  <a:srgbClr val="1F4E79"/>
                </a:solidFill>
                <a:latin typeface="Aptos"/>
              </a:rPr>
              <a:t>What would change the decision</a:t>
            </a:r>
          </a:p>
        </p:txBody>
      </p:sp>
      <p:sp>
        <p:nvSpPr>
          <p:cNvPr id="3" name="TextBox 2"/>
          <p:cNvSpPr txBox="1"/>
          <p:nvPr/>
        </p:nvSpPr>
        <p:spPr>
          <a:xfrm>
            <a:off x="530352" y="868680"/>
            <a:ext cx="11064240" cy="320040"/>
          </a:xfrm>
          <a:prstGeom prst="rect">
            <a:avLst/>
          </a:prstGeom>
          <a:noFill/>
        </p:spPr>
        <p:txBody>
          <a:bodyPr wrap="square">
            <a:spAutoFit/>
          </a:bodyPr>
          <a:lstStyle/>
          <a:p>
            <a:pPr algn="l"/>
            <a:r>
              <a:rPr sz="1000" b="0">
                <a:solidFill>
                  <a:srgbClr val="5F5F5F"/>
                </a:solidFill>
                <a:latin typeface="Aptos"/>
              </a:rPr>
              <a:t>Observable flip conditions</a:t>
            </a:r>
          </a:p>
        </p:txBody>
      </p:sp>
      <p:sp>
        <p:nvSpPr>
          <p:cNvPr id="4" name="TextBox 3"/>
          <p:cNvSpPr txBox="1"/>
          <p:nvPr/>
        </p:nvSpPr>
        <p:spPr>
          <a:xfrm>
            <a:off x="914400" y="1325880"/>
            <a:ext cx="10058400" cy="411480"/>
          </a:xfrm>
          <a:prstGeom prst="rect">
            <a:avLst/>
          </a:prstGeom>
          <a:noFill/>
        </p:spPr>
        <p:txBody>
          <a:bodyPr wrap="square">
            <a:spAutoFit/>
          </a:bodyPr>
          <a:lstStyle/>
          <a:p>
            <a:pPr algn="l"/>
            <a:r>
              <a:rPr sz="1700" b="1">
                <a:solidFill>
                  <a:srgbClr val="AA3C32"/>
                </a:solidFill>
                <a:latin typeface="Aptos"/>
              </a:rPr>
              <a:t>• Pilot cannot support the modeled uplift/savings run-rate.</a:t>
            </a:r>
          </a:p>
        </p:txBody>
      </p:sp>
      <p:sp>
        <p:nvSpPr>
          <p:cNvPr id="5" name="TextBox 4"/>
          <p:cNvSpPr txBox="1"/>
          <p:nvPr/>
        </p:nvSpPr>
        <p:spPr>
          <a:xfrm>
            <a:off x="914400" y="2057400"/>
            <a:ext cx="10058400" cy="411480"/>
          </a:xfrm>
          <a:prstGeom prst="rect">
            <a:avLst/>
          </a:prstGeom>
          <a:noFill/>
        </p:spPr>
        <p:txBody>
          <a:bodyPr wrap="square">
            <a:spAutoFit/>
          </a:bodyPr>
          <a:lstStyle/>
          <a:p>
            <a:pPr algn="l"/>
            <a:r>
              <a:rPr sz="1700" b="1">
                <a:solidFill>
                  <a:srgbClr val="AA3C32"/>
                </a:solidFill>
                <a:latin typeface="Aptos"/>
              </a:rPr>
              <a:t>• Capex exceeds EUR450k or staffing exceeds seven FTE.</a:t>
            </a:r>
          </a:p>
        </p:txBody>
      </p:sp>
      <p:sp>
        <p:nvSpPr>
          <p:cNvPr id="6" name="TextBox 5"/>
          <p:cNvSpPr txBox="1"/>
          <p:nvPr/>
        </p:nvSpPr>
        <p:spPr>
          <a:xfrm>
            <a:off x="914400" y="2788920"/>
            <a:ext cx="10058400" cy="411480"/>
          </a:xfrm>
          <a:prstGeom prst="rect">
            <a:avLst/>
          </a:prstGeom>
          <a:noFill/>
        </p:spPr>
        <p:txBody>
          <a:bodyPr wrap="square">
            <a:spAutoFit/>
          </a:bodyPr>
          <a:lstStyle/>
          <a:p>
            <a:pPr algn="l"/>
            <a:r>
              <a:rPr sz="1700" b="1">
                <a:solidFill>
                  <a:srgbClr val="AA3C32"/>
                </a:solidFill>
                <a:latin typeface="Aptos"/>
              </a:rPr>
              <a:t>• Returns or PLN/CZK FX make the defined stress case more credible.</a:t>
            </a:r>
          </a:p>
        </p:txBody>
      </p:sp>
      <p:sp>
        <p:nvSpPr>
          <p:cNvPr id="7" name="TextBox 6"/>
          <p:cNvSpPr txBox="1"/>
          <p:nvPr/>
        </p:nvSpPr>
        <p:spPr>
          <a:xfrm>
            <a:off x="914400" y="3520440"/>
            <a:ext cx="10058400" cy="411480"/>
          </a:xfrm>
          <a:prstGeom prst="rect">
            <a:avLst/>
          </a:prstGeom>
          <a:noFill/>
        </p:spPr>
        <p:txBody>
          <a:bodyPr wrap="square">
            <a:spAutoFit/>
          </a:bodyPr>
          <a:lstStyle/>
          <a:p>
            <a:pPr algn="l"/>
            <a:r>
              <a:rPr sz="1700" b="0">
                <a:solidFill>
                  <a:srgbClr val="2D2D2D"/>
                </a:solidFill>
                <a:latin typeface="Aptos"/>
              </a:rPr>
              <a:t>• The strongest alternative becomes executable with lower delivery risk.</a:t>
            </a:r>
          </a:p>
        </p:txBody>
      </p:sp>
      <p:sp>
        <p:nvSpPr>
          <p:cNvPr id="8" name="TextBox 7"/>
          <p:cNvSpPr txBox="1"/>
          <p:nvPr/>
        </p:nvSpPr>
        <p:spPr>
          <a:xfrm>
            <a:off x="914400" y="4251960"/>
            <a:ext cx="10058400" cy="411480"/>
          </a:xfrm>
          <a:prstGeom prst="rect">
            <a:avLst/>
          </a:prstGeom>
          <a:noFill/>
        </p:spPr>
        <p:txBody>
          <a:bodyPr wrap="square">
            <a:spAutoFit/>
          </a:bodyPr>
          <a:lstStyle/>
          <a:p>
            <a:pPr algn="l"/>
            <a:r>
              <a:rPr sz="1700" b="0">
                <a:solidFill>
                  <a:srgbClr val="2D2D2D"/>
                </a:solidFill>
                <a:latin typeface="Aptos"/>
              </a:rPr>
              <a:t>• Data reconciliation fails at the Gate 3 sign-off.</a:t>
            </a:r>
          </a:p>
        </p:txBody>
      </p:sp>
      <p:sp>
        <p:nvSpPr>
          <p:cNvPr id="9" name="TextBox 8"/>
          <p:cNvSpPr txBox="1"/>
          <p:nvPr/>
        </p:nvSpPr>
        <p:spPr>
          <a:xfrm>
            <a:off x="914400" y="5486400"/>
            <a:ext cx="10241280" cy="457200"/>
          </a:xfrm>
          <a:prstGeom prst="rect">
            <a:avLst/>
          </a:prstGeom>
          <a:noFill/>
        </p:spPr>
        <p:txBody>
          <a:bodyPr wrap="square">
            <a:spAutoFit/>
          </a:bodyPr>
          <a:lstStyle/>
          <a:p>
            <a:pPr algn="l"/>
            <a:r>
              <a:rPr sz="1400" b="1">
                <a:solidFill>
                  <a:srgbClr val="1F4E79"/>
                </a:solidFill>
                <a:latin typeface="Aptos"/>
              </a:rPr>
              <a:t>The recommendation is supported by the current planning evidence, but it is not statistically proven, causal or certain.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55680" cy="502920"/>
          </a:xfrm>
          <a:prstGeom prst="rect">
            <a:avLst/>
          </a:prstGeom>
          <a:noFill/>
        </p:spPr>
        <p:txBody>
          <a:bodyPr wrap="square">
            <a:spAutoFit/>
          </a:bodyPr>
          <a:lstStyle/>
          <a:p>
            <a:pPr algn="l"/>
            <a:r>
              <a:rPr sz="2500" b="1">
                <a:solidFill>
                  <a:srgbClr val="1F4E79"/>
                </a:solidFill>
                <a:latin typeface="Aptos"/>
              </a:rPr>
              <a:t>Board action</a:t>
            </a:r>
          </a:p>
        </p:txBody>
      </p:sp>
      <p:sp>
        <p:nvSpPr>
          <p:cNvPr id="3" name="TextBox 2"/>
          <p:cNvSpPr txBox="1"/>
          <p:nvPr/>
        </p:nvSpPr>
        <p:spPr>
          <a:xfrm>
            <a:off x="530352" y="868680"/>
            <a:ext cx="11064240" cy="320040"/>
          </a:xfrm>
          <a:prstGeom prst="rect">
            <a:avLst/>
          </a:prstGeom>
          <a:noFill/>
        </p:spPr>
        <p:txBody>
          <a:bodyPr wrap="square">
            <a:spAutoFit/>
          </a:bodyPr>
          <a:lstStyle/>
          <a:p>
            <a:pPr algn="l"/>
            <a:r>
              <a:rPr sz="1000" b="0">
                <a:solidFill>
                  <a:srgbClr val="5F5F5F"/>
                </a:solidFill>
                <a:latin typeface="Aptos"/>
              </a:rPr>
              <a:t>Approve a gated pilot, preserve the option to defer</a:t>
            </a:r>
          </a:p>
        </p:txBody>
      </p:sp>
      <p:sp>
        <p:nvSpPr>
          <p:cNvPr id="4" name="TextBox 3"/>
          <p:cNvSpPr txBox="1"/>
          <p:nvPr/>
        </p:nvSpPr>
        <p:spPr>
          <a:xfrm>
            <a:off x="822960" y="1280160"/>
            <a:ext cx="10424160" cy="685800"/>
          </a:xfrm>
          <a:prstGeom prst="rect">
            <a:avLst/>
          </a:prstGeom>
          <a:noFill/>
        </p:spPr>
        <p:txBody>
          <a:bodyPr wrap="square">
            <a:spAutoFit/>
          </a:bodyPr>
          <a:lstStyle/>
          <a:p>
            <a:pPr algn="l"/>
            <a:r>
              <a:rPr sz="2200" b="1">
                <a:solidFill>
                  <a:srgbClr val="1F7850"/>
                </a:solidFill>
                <a:latin typeface="Aptos"/>
              </a:rPr>
              <a:t>Authorize preparatory work for CZE + ESP: EUR 225,000 capex envelope and 5 FTE envelope.</a:t>
            </a:r>
          </a:p>
        </p:txBody>
      </p:sp>
      <p:sp>
        <p:nvSpPr>
          <p:cNvPr id="5" name="TextBox 4"/>
          <p:cNvSpPr txBox="1"/>
          <p:nvPr/>
        </p:nvSpPr>
        <p:spPr>
          <a:xfrm>
            <a:off x="868680" y="2514600"/>
            <a:ext cx="10241280" cy="1645920"/>
          </a:xfrm>
          <a:prstGeom prst="rect">
            <a:avLst/>
          </a:prstGeom>
          <a:noFill/>
        </p:spPr>
        <p:txBody>
          <a:bodyPr wrap="square">
            <a:spAutoFit/>
          </a:bodyPr>
          <a:lstStyle/>
          <a:p>
            <a:pPr algn="l"/>
            <a:r>
              <a:rPr sz="1700" b="0">
                <a:solidFill>
                  <a:srgbClr val="2D2D2D"/>
                </a:solidFill>
                <a:latin typeface="Aptos"/>
              </a:rPr>
              <a:t>At Day 90, release full commitments only if the evidence supports the operating case. If not, defer or fund the strongest alternative. The analytical workbook, metrics JSON, raw evidence and build script are the audit trail.</a:t>
            </a:r>
          </a:p>
        </p:txBody>
      </p:sp>
      <p:sp>
        <p:nvSpPr>
          <p:cNvPr id="6" name="TextBox 5"/>
          <p:cNvSpPr txBox="1"/>
          <p:nvPr/>
        </p:nvSpPr>
        <p:spPr>
          <a:xfrm>
            <a:off x="868680" y="5394960"/>
            <a:ext cx="10241280" cy="502920"/>
          </a:xfrm>
          <a:prstGeom prst="rect">
            <a:avLst/>
          </a:prstGeom>
          <a:noFill/>
        </p:spPr>
        <p:txBody>
          <a:bodyPr wrap="square">
            <a:spAutoFit/>
          </a:bodyPr>
          <a:lstStyle/>
          <a:p>
            <a:pPr algn="l"/>
            <a:r>
              <a:rPr sz="1100" b="0">
                <a:solidFill>
                  <a:srgbClr val="5F5F5F"/>
                </a:solidFill>
                <a:latin typeface="Aptos"/>
              </a:rPr>
              <a:t>Source register and reproducibility: deliverables/source-register.csv | scripts/build_deliverables.py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